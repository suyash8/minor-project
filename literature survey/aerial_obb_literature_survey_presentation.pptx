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10728655" cy="2011680"/>
          </a:xfrm>
          <a:prstGeom prst="rect">
            <a:avLst/>
          </a:prstGeom>
          <a:noFill/>
        </p:spPr>
        <p:txBody>
          <a:bodyPr wrap="square" lIns="0" tIns="0" rIns="0" bIns="0">
            <a:spAutoFit/>
          </a:bodyPr>
          <a:lstStyle/>
          <a:p>
            <a:pPr>
              <a:defRPr sz="1100" b="1">
                <a:solidFill>
                  <a:srgbClr val="1D4ED8"/>
                </a:solidFill>
                <a:latin typeface="Arial"/>
              </a:defRPr>
            </a:pPr>
            <a:r>
              <a:t>AERIAL COMPUTER VISION &amp; AUTONOMOUS DRIVING</a:t>
            </a:r>
          </a:p>
          <a:p>
            <a:pPr>
              <a:spcBef>
                <a:spcPts val="800"/>
              </a:spcBef>
              <a:defRPr sz="2600" b="1">
                <a:solidFill>
                  <a:srgbClr val="0F172A"/>
                </a:solidFill>
                <a:latin typeface="Arial"/>
              </a:defRPr>
            </a:pPr>
            <a:r>
              <a:t>Object Detection Using Oriented Bounding Boxes in Difficult Flight Conditions</a:t>
            </a:r>
          </a:p>
          <a:p>
            <a:pPr>
              <a:spcBef>
                <a:spcPts val="600"/>
              </a:spcBef>
              <a:defRPr sz="1300">
                <a:solidFill>
                  <a:srgbClr val="64748B"/>
                </a:solidFill>
                <a:latin typeface="Arial"/>
              </a:defRPr>
            </a:pPr>
            <a:r>
              <a:t>Literature survey of 15 papers (2021-2026), multi-class dataset audit, and system blueprint</a:t>
            </a:r>
          </a:p>
        </p:txBody>
      </p:sp>
      <p:sp>
        <p:nvSpPr>
          <p:cNvPr id="3" name="Rectangle 2"/>
          <p:cNvSpPr/>
          <p:nvPr/>
        </p:nvSpPr>
        <p:spPr>
          <a:xfrm>
            <a:off x="731520" y="329184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566160"/>
            <a:ext cx="2514600" cy="2834640"/>
          </a:xfrm>
          <a:prstGeom prst="rect">
            <a:avLst/>
          </a:prstGeom>
          <a:noFill/>
        </p:spPr>
        <p:txBody>
          <a:bodyPr wrap="square" lIns="0" tIns="0" rIns="0" bIns="0">
            <a:spAutoFit/>
          </a:bodyPr>
          <a:lstStyle/>
          <a:p>
            <a:pPr>
              <a:defRPr sz="1250" b="1">
                <a:solidFill>
                  <a:srgbClr val="1D4ED8"/>
                </a:solidFill>
                <a:latin typeface="Arial"/>
              </a:defRPr>
            </a:pPr>
            <a:r>
              <a:t>01. The Flight Problem</a:t>
            </a:r>
          </a:p>
          <a:p>
            <a:pPr>
              <a:spcBef>
                <a:spcPts val="600"/>
              </a:spcBef>
              <a:defRPr sz="980">
                <a:solidFill>
                  <a:srgbClr val="1E293B"/>
                </a:solidFill>
                <a:latin typeface="Arial"/>
              </a:defRPr>
            </a:pPr>
            <a:r>
              <a:t>Detecting cars and pedestrians from drones is tough. Oblique 30° camera angles distort shapes, heights from 30m to 100m shrink objects to pixels, and dense traffic creates heavy occlusion.</a:t>
            </a:r>
          </a:p>
        </p:txBody>
      </p:sp>
      <p:sp>
        <p:nvSpPr>
          <p:cNvPr id="5" name="TextBox 4"/>
          <p:cNvSpPr txBox="1"/>
          <p:nvPr/>
        </p:nvSpPr>
        <p:spPr>
          <a:xfrm>
            <a:off x="3465576" y="3566160"/>
            <a:ext cx="2514600" cy="2834640"/>
          </a:xfrm>
          <a:prstGeom prst="rect">
            <a:avLst/>
          </a:prstGeom>
          <a:noFill/>
        </p:spPr>
        <p:txBody>
          <a:bodyPr wrap="square" lIns="0" tIns="0" rIns="0" bIns="0">
            <a:spAutoFit/>
          </a:bodyPr>
          <a:lstStyle/>
          <a:p>
            <a:pPr>
              <a:defRPr sz="1250" b="1">
                <a:solidFill>
                  <a:srgbClr val="1D4ED8"/>
                </a:solidFill>
                <a:latin typeface="Arial"/>
              </a:defRPr>
            </a:pPr>
            <a:r>
              <a:t>02. Why Use OBB?</a:t>
            </a:r>
          </a:p>
          <a:p>
            <a:pPr>
              <a:spcBef>
                <a:spcPts val="600"/>
              </a:spcBef>
              <a:defRPr sz="980">
                <a:solidFill>
                  <a:srgbClr val="1E293B"/>
                </a:solidFill>
                <a:latin typeface="Arial"/>
              </a:defRPr>
            </a:pPr>
            <a:r>
              <a:t>Oriented boxes hug vehicles tightly. They stop NMS from deleting cars in traffic jams, strip out road shadows and asphalt noise, and give vehicle heading angles directly.</a:t>
            </a:r>
          </a:p>
        </p:txBody>
      </p:sp>
      <p:sp>
        <p:nvSpPr>
          <p:cNvPr id="6" name="TextBox 5"/>
          <p:cNvSpPr txBox="1"/>
          <p:nvPr/>
        </p:nvSpPr>
        <p:spPr>
          <a:xfrm>
            <a:off x="6199632" y="3566160"/>
            <a:ext cx="2514600" cy="2834640"/>
          </a:xfrm>
          <a:prstGeom prst="rect">
            <a:avLst/>
          </a:prstGeom>
          <a:noFill/>
        </p:spPr>
        <p:txBody>
          <a:bodyPr wrap="square" lIns="0" tIns="0" rIns="0" bIns="0">
            <a:spAutoFit/>
          </a:bodyPr>
          <a:lstStyle/>
          <a:p>
            <a:pPr>
              <a:defRPr sz="1250" b="1">
                <a:solidFill>
                  <a:srgbClr val="1D4ED8"/>
                </a:solidFill>
                <a:latin typeface="Arial"/>
              </a:defRPr>
            </a:pPr>
            <a:r>
              <a:t>03. 15-Paper Survey</a:t>
            </a:r>
          </a:p>
          <a:p>
            <a:pPr>
              <a:spcBef>
                <a:spcPts val="600"/>
              </a:spcBef>
              <a:defRPr sz="980">
                <a:solidFill>
                  <a:srgbClr val="1E293B"/>
                </a:solidFill>
                <a:latin typeface="Arial"/>
              </a:defRPr>
            </a:pPr>
            <a:r>
              <a:t>Tracks five years of progress across feature alignment, Gaussian metric losses, real-time edge YOLO models, radar noise, and multi-modal thermal fusion.</a:t>
            </a:r>
          </a:p>
        </p:txBody>
      </p:sp>
      <p:sp>
        <p:nvSpPr>
          <p:cNvPr id="7" name="TextBox 6"/>
          <p:cNvSpPr txBox="1"/>
          <p:nvPr/>
        </p:nvSpPr>
        <p:spPr>
          <a:xfrm>
            <a:off x="8933688" y="3566160"/>
            <a:ext cx="2514600" cy="2834640"/>
          </a:xfrm>
          <a:prstGeom prst="rect">
            <a:avLst/>
          </a:prstGeom>
          <a:noFill/>
        </p:spPr>
        <p:txBody>
          <a:bodyPr wrap="square" lIns="0" tIns="0" rIns="0" bIns="0">
            <a:spAutoFit/>
          </a:bodyPr>
          <a:lstStyle/>
          <a:p>
            <a:pPr>
              <a:defRPr sz="1250" b="1">
                <a:solidFill>
                  <a:srgbClr val="1D4ED8"/>
                </a:solidFill>
                <a:latin typeface="Arial"/>
              </a:defRPr>
            </a:pPr>
            <a:r>
              <a:t>04. Our Dataset Choice</a:t>
            </a:r>
          </a:p>
          <a:p>
            <a:pPr>
              <a:spcBef>
                <a:spcPts val="600"/>
              </a:spcBef>
              <a:defRPr sz="980">
                <a:solidFill>
                  <a:srgbClr val="1E293B"/>
                </a:solidFill>
                <a:latin typeface="Arial"/>
              </a:defRPr>
            </a:pPr>
            <a:r>
              <a:t>We select CODrone 2025. It gives us 4K optical RGB frames, 12 road object classes, and tests the hardest flight condition: 30° oblique camera tilt.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960120"/>
          </a:xfrm>
          <a:prstGeom prst="rect">
            <a:avLst/>
          </a:prstGeom>
          <a:noFill/>
        </p:spPr>
        <p:txBody>
          <a:bodyPr wrap="square" lIns="0" tIns="0" rIns="0" bIns="0">
            <a:spAutoFit/>
          </a:bodyPr>
          <a:lstStyle/>
          <a:p>
            <a:pPr>
              <a:defRPr sz="950" b="1">
                <a:solidFill>
                  <a:srgbClr val="1D4ED8"/>
                </a:solidFill>
                <a:latin typeface="Arial"/>
              </a:defRPr>
            </a:pPr>
            <a:r>
              <a:t>OPERATIONAL CONTEXT AND PROBLEM SETUP</a:t>
            </a:r>
          </a:p>
          <a:p>
            <a:pPr>
              <a:spcBef>
                <a:spcPts val="300"/>
              </a:spcBef>
              <a:defRPr sz="2000" b="1">
                <a:solidFill>
                  <a:srgbClr val="0F172A"/>
                </a:solidFill>
                <a:latin typeface="Arial"/>
              </a:defRPr>
            </a:pPr>
            <a:r>
              <a:t>What Makes Aerial Detection Hard and How OBB Solves It</a:t>
            </a:r>
          </a:p>
          <a:p>
            <a:pPr>
              <a:spcBef>
                <a:spcPts val="300"/>
              </a:spcBef>
              <a:defRPr sz="1050">
                <a:solidFill>
                  <a:srgbClr val="64748B"/>
                </a:solidFill>
                <a:latin typeface="Arial"/>
              </a:defRPr>
            </a:pPr>
            <a:r>
              <a:t>Standard horizontal bounding boxes break down in real flights. Oriented bounding boxes fix the geometry.</a:t>
            </a:r>
          </a:p>
        </p:txBody>
      </p:sp>
      <p:sp>
        <p:nvSpPr>
          <p:cNvPr id="3" name="Rectangle 2"/>
          <p:cNvSpPr/>
          <p:nvPr/>
        </p:nvSpPr>
        <p:spPr>
          <a:xfrm>
            <a:off x="731520" y="1389888"/>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00200"/>
            <a:ext cx="5166360" cy="4892040"/>
          </a:xfrm>
          <a:prstGeom prst="rect">
            <a:avLst/>
          </a:prstGeom>
          <a:noFill/>
        </p:spPr>
        <p:txBody>
          <a:bodyPr wrap="square" lIns="0" tIns="0" rIns="0" bIns="0">
            <a:spAutoFit/>
          </a:bodyPr>
          <a:lstStyle/>
          <a:p>
            <a:pPr>
              <a:defRPr sz="1300" b="1">
                <a:solidFill>
                  <a:srgbClr val="B91C1C"/>
                </a:solidFill>
                <a:latin typeface="Arial"/>
              </a:defRPr>
            </a:pPr>
            <a:r>
              <a:t>Difficult Conditions in Aerial Drone Flights</a:t>
            </a:r>
          </a:p>
          <a:p>
            <a:pPr>
              <a:spcBef>
                <a:spcPts val="800"/>
              </a:spcBef>
              <a:defRPr sz="1000" b="1">
                <a:solidFill>
                  <a:srgbClr val="0F172A"/>
                </a:solidFill>
                <a:latin typeface="Arial"/>
              </a:defRPr>
            </a:pPr>
            <a:r>
              <a:t>•  Tilted camera angles (30° oblique): </a:t>
            </a:r>
            <a:r>
              <a:rPr sz="950" b="0">
                <a:solidFill>
                  <a:srgbClr val="1E293B"/>
                </a:solidFill>
              </a:rPr>
              <a:t>Drone cameras usually point forward at an angle, not straight down. This creates steep perspective foreshortening, compressing distant cars and dropping detector accuracy by 8 to 12%.</a:t>
            </a:r>
          </a:p>
          <a:p>
            <a:pPr>
              <a:spcBef>
                <a:spcPts val="800"/>
              </a:spcBef>
              <a:defRPr sz="1000" b="1">
                <a:solidFill>
                  <a:srgbClr val="0F172A"/>
                </a:solidFill>
                <a:latin typeface="Arial"/>
              </a:defRPr>
            </a:pPr>
            <a:r>
              <a:t>•  Altitude shifts and tiny objects (30m to 100m): </a:t>
            </a:r>
            <a:r>
              <a:rPr sz="950" b="0">
                <a:solidFill>
                  <a:srgbClr val="1E293B"/>
                </a:solidFill>
              </a:rPr>
              <a:t>Flying between 30m and 100m changes object sizes drastically. At 100m height, cars shrink to 20 pixels and pedestrians to 10 pixels, causing standard feature pyramids to drop them completely.</a:t>
            </a:r>
          </a:p>
          <a:p>
            <a:pPr>
              <a:spcBef>
                <a:spcPts val="800"/>
              </a:spcBef>
              <a:defRPr sz="1000" b="1">
                <a:solidFill>
                  <a:srgbClr val="0F172A"/>
                </a:solidFill>
                <a:latin typeface="Arial"/>
              </a:defRPr>
            </a:pPr>
            <a:r>
              <a:t>•  Traffic jams and bumper-to-bumper queues: </a:t>
            </a:r>
            <a:r>
              <a:rPr sz="950" b="0">
                <a:solidFill>
                  <a:srgbClr val="1E293B"/>
                </a:solidFill>
              </a:rPr>
              <a:t>When vehicles pack closely at intersections, regular horizontal boxes overlap by over 60%. Standard NMS treats them as duplicates and deletes real vehicles from the output.</a:t>
            </a:r>
          </a:p>
          <a:p>
            <a:pPr>
              <a:spcBef>
                <a:spcPts val="800"/>
              </a:spcBef>
              <a:defRPr sz="1000" b="1">
                <a:solidFill>
                  <a:srgbClr val="0F172A"/>
                </a:solidFill>
                <a:latin typeface="Arial"/>
              </a:defRPr>
            </a:pPr>
            <a:r>
              <a:t>•  Road shadows and visual clutter: </a:t>
            </a:r>
            <a:r>
              <a:rPr sz="950" b="0">
                <a:solidFill>
                  <a:srgbClr val="1E293B"/>
                </a:solidFill>
              </a:rPr>
              <a:t>Urban drone views are filled with confusing visual noise: long building shadows, tree cover, lane markers, and asphalt glare that fool small-object feature extractors.</a:t>
            </a:r>
          </a:p>
        </p:txBody>
      </p:sp>
      <p:sp>
        <p:nvSpPr>
          <p:cNvPr id="5" name="Rectangle 4"/>
          <p:cNvSpPr/>
          <p:nvPr/>
        </p:nvSpPr>
        <p:spPr>
          <a:xfrm>
            <a:off x="6080760" y="1600200"/>
            <a:ext cx="12700" cy="461772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91072" y="1600200"/>
            <a:ext cx="5166360" cy="4892040"/>
          </a:xfrm>
          <a:prstGeom prst="rect">
            <a:avLst/>
          </a:prstGeom>
          <a:noFill/>
        </p:spPr>
        <p:txBody>
          <a:bodyPr wrap="square" lIns="0" tIns="0" rIns="0" bIns="0">
            <a:spAutoFit/>
          </a:bodyPr>
          <a:lstStyle/>
          <a:p>
            <a:pPr>
              <a:defRPr sz="1300" b="1">
                <a:solidFill>
                  <a:srgbClr val="15803D"/>
                </a:solidFill>
                <a:latin typeface="Arial"/>
              </a:defRPr>
            </a:pPr>
            <a:r>
              <a:t>How Oriented Boxes (OBB) Resolve These Hurdles</a:t>
            </a:r>
          </a:p>
          <a:p>
            <a:pPr>
              <a:spcBef>
                <a:spcPts val="800"/>
              </a:spcBef>
              <a:defRPr sz="1000" b="1">
                <a:solidFill>
                  <a:srgbClr val="0F172A"/>
                </a:solidFill>
                <a:latin typeface="Arial"/>
              </a:defRPr>
            </a:pPr>
            <a:r>
              <a:t>•  Stops NMS from deleting cars in queues: </a:t>
            </a:r>
            <a:r>
              <a:rPr sz="950" b="0">
                <a:solidFill>
                  <a:srgbClr val="1E293B"/>
                </a:solidFill>
              </a:rPr>
              <a:t>Rotated boxes hug the true vehicle perimeter. Even in gridlock traffic, overlap between adjacent rotated boxes stays near zero, so NMS keeps every single vehicle detection.</a:t>
            </a:r>
          </a:p>
          <a:p>
            <a:pPr>
              <a:spcBef>
                <a:spcPts val="800"/>
              </a:spcBef>
              <a:defRPr sz="1000" b="1">
                <a:solidFill>
                  <a:srgbClr val="0F172A"/>
                </a:solidFill>
                <a:latin typeface="Arial"/>
              </a:defRPr>
            </a:pPr>
            <a:r>
              <a:t>•  Cuts out road shadows and background pixels: </a:t>
            </a:r>
            <a:r>
              <a:rPr sz="950" b="0">
                <a:solidFill>
                  <a:srgbClr val="1E293B"/>
                </a:solidFill>
              </a:rPr>
              <a:t>Up to 60% of a horizontal box on a diagonal car is just asphalt and shadow. Oriented boxes contain only vehicle pixels, keeping background noise out of the learned features.</a:t>
            </a:r>
          </a:p>
          <a:p>
            <a:pPr>
              <a:spcBef>
                <a:spcPts val="800"/>
              </a:spcBef>
              <a:defRPr sz="1000" b="1">
                <a:solidFill>
                  <a:srgbClr val="0F172A"/>
                </a:solidFill>
                <a:latin typeface="Arial"/>
              </a:defRPr>
            </a:pPr>
            <a:r>
              <a:t>•  Delivers vehicle heading angles directly: </a:t>
            </a:r>
            <a:r>
              <a:rPr sz="950" b="0">
                <a:solidFill>
                  <a:srgbClr val="1E293B"/>
                </a:solidFill>
              </a:rPr>
              <a:t>The box coordinates directly output vehicle yaw angle. Downstream tracking and trajectory planning get motion direction instantly without complex multi-frame math.</a:t>
            </a:r>
          </a:p>
          <a:p>
            <a:pPr>
              <a:spcBef>
                <a:spcPts val="800"/>
              </a:spcBef>
              <a:defRPr sz="1000" b="1">
                <a:solidFill>
                  <a:srgbClr val="0F172A"/>
                </a:solidFill>
                <a:latin typeface="Arial"/>
              </a:defRPr>
            </a:pPr>
            <a:r>
              <a:t>•  Keeps real vehicle shapes under perspective tilt: </a:t>
            </a:r>
            <a:r>
              <a:rPr sz="950" b="0">
                <a:solidFill>
                  <a:srgbClr val="1E293B"/>
                </a:solidFill>
              </a:rPr>
              <a:t>Even when camera tilt distorts the visual scene, oriented boxes preserve the true length-to-width ratio, making it easier to tell trucks, vans, and sedans apart.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960120"/>
          </a:xfrm>
          <a:prstGeom prst="rect">
            <a:avLst/>
          </a:prstGeom>
          <a:noFill/>
        </p:spPr>
        <p:txBody>
          <a:bodyPr wrap="square" lIns="0" tIns="0" rIns="0" bIns="0">
            <a:spAutoFit/>
          </a:bodyPr>
          <a:lstStyle/>
          <a:p>
            <a:pPr>
              <a:defRPr sz="950" b="1">
                <a:solidFill>
                  <a:srgbClr val="1D4ED8"/>
                </a:solidFill>
                <a:latin typeface="Arial"/>
              </a:defRPr>
            </a:pPr>
            <a:r>
              <a:t>PAPERS 1 TO 5 (2021-2023)</a:t>
            </a:r>
          </a:p>
          <a:p>
            <a:pPr>
              <a:spcBef>
                <a:spcPts val="300"/>
              </a:spcBef>
              <a:defRPr sz="2000" b="1">
                <a:solidFill>
                  <a:srgbClr val="0F172A"/>
                </a:solidFill>
                <a:latin typeface="Arial"/>
              </a:defRPr>
            </a:pPr>
            <a:r>
              <a:t>Two-Stage and Refinement Detectors in Difficult Conditions</a:t>
            </a:r>
          </a:p>
          <a:p>
            <a:pPr>
              <a:spcBef>
                <a:spcPts val="300"/>
              </a:spcBef>
              <a:defRPr sz="1050">
                <a:solidFill>
                  <a:srgbClr val="64748B"/>
                </a:solidFill>
                <a:latin typeface="Arial"/>
              </a:defRPr>
            </a:pPr>
            <a:r>
              <a:t>How early models tackled drone rotation, extreme scale changes, and dense urban clutter using OBB.</a:t>
            </a:r>
          </a:p>
        </p:txBody>
      </p:sp>
      <p:sp>
        <p:nvSpPr>
          <p:cNvPr id="3" name="Rectangle 2"/>
          <p:cNvSpPr/>
          <p:nvPr/>
        </p:nvSpPr>
        <p:spPr>
          <a:xfrm>
            <a:off x="731520" y="1389888"/>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36192"/>
            <a:ext cx="10728655" cy="960120"/>
          </a:xfrm>
          <a:prstGeom prst="rect">
            <a:avLst/>
          </a:prstGeom>
          <a:noFill/>
        </p:spPr>
        <p:txBody>
          <a:bodyPr wrap="square" lIns="0" tIns="0" rIns="0" bIns="0">
            <a:spAutoFit/>
          </a:bodyPr>
          <a:lstStyle/>
          <a:p>
            <a:pPr>
              <a:defRPr sz="1050" b="1">
                <a:solidFill>
                  <a:srgbClr val="1D4ED8"/>
                </a:solidFill>
                <a:latin typeface="Arial"/>
              </a:defRPr>
            </a:pPr>
            <a:r>
              <a:t>1. DOTA-v2.0 Benchmark (Ding et al., TPAMI 2021)  </a:t>
            </a:r>
            <a:r>
              <a:rPr sz="919" b="0">
                <a:solidFill>
                  <a:srgbClr val="64748B"/>
                </a:solidFill>
              </a:rPr>
              <a:t>|  RoI Transformer / Faster R-CNN OBB  •  DOTA-v2.0 (11.2k optical RGB imgs, 1.79M boxes)  •  52.8% mAP with RoI Transformer</a:t>
            </a:r>
          </a:p>
          <a:p>
            <a:pPr>
              <a:spcBef>
                <a:spcPts val="250"/>
              </a:spcBef>
              <a:defRPr sz="919" b="1">
                <a:solidFill>
                  <a:srgbClr val="0F172A"/>
                </a:solidFill>
                <a:latin typeface="Arial"/>
              </a:defRPr>
            </a:pPr>
            <a:r>
              <a:t>•  </a:t>
            </a:r>
            <a:r>
              <a:rPr sz="919" b="0">
                <a:solidFill>
                  <a:srgbClr val="1E293B"/>
                </a:solidFill>
              </a:rPr>
              <a:t>Built a massive benchmark to test how detectors handle extreme scale differences (10px to 1,000px) and heavy clutter. RoI Transformer led at 52.8% mAP.</a:t>
            </a:r>
          </a:p>
          <a:p>
            <a:pPr>
              <a:spcBef>
                <a:spcPts val="200"/>
              </a:spcBef>
              <a:defRPr sz="919" b="1">
                <a:solidFill>
                  <a:srgbClr val="B91C1C"/>
                </a:solidFill>
                <a:latin typeface="Arial"/>
              </a:defRPr>
            </a:pPr>
            <a:r>
              <a:t>•  </a:t>
            </a:r>
            <a:r>
              <a:rPr sz="919" b="0">
                <a:solidFill>
                  <a:srgbClr val="1E293B"/>
                </a:solidFill>
              </a:rPr>
              <a:t>Objects under 10px fell below 42% AP because slicing images into crops destroys wider context. Confirms that standard horizontal anchors fail on dense aerial objects.</a:t>
            </a:r>
          </a:p>
        </p:txBody>
      </p:sp>
      <p:sp>
        <p:nvSpPr>
          <p:cNvPr id="5" name="Rectangle 4"/>
          <p:cNvSpPr/>
          <p:nvPr/>
        </p:nvSpPr>
        <p:spPr>
          <a:xfrm>
            <a:off x="731520" y="2523744"/>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569464"/>
            <a:ext cx="10728655" cy="960120"/>
          </a:xfrm>
          <a:prstGeom prst="rect">
            <a:avLst/>
          </a:prstGeom>
          <a:noFill/>
        </p:spPr>
        <p:txBody>
          <a:bodyPr wrap="square" lIns="0" tIns="0" rIns="0" bIns="0">
            <a:spAutoFit/>
          </a:bodyPr>
          <a:lstStyle/>
          <a:p>
            <a:pPr>
              <a:defRPr sz="1050" b="1">
                <a:solidFill>
                  <a:srgbClr val="1D4ED8"/>
                </a:solidFill>
                <a:latin typeface="Arial"/>
              </a:defRPr>
            </a:pPr>
            <a:r>
              <a:t>2. Oriented R-CNN (Xie et al., ICCV 2021)  </a:t>
            </a:r>
            <a:r>
              <a:rPr sz="919" b="0">
                <a:solidFill>
                  <a:srgbClr val="64748B"/>
                </a:solidFill>
              </a:rPr>
              <a:t>|  Oriented RPN + Midpoint Head  •  DOTA-v1.0 (2.8k imgs), HRSC2016  •  80.9% mAP on DOTA, 96.5% on HRSC</a:t>
            </a:r>
          </a:p>
          <a:p>
            <a:pPr>
              <a:spcBef>
                <a:spcPts val="250"/>
              </a:spcBef>
              <a:defRPr sz="919" b="1">
                <a:solidFill>
                  <a:srgbClr val="0F172A"/>
                </a:solidFill>
                <a:latin typeface="Arial"/>
              </a:defRPr>
            </a:pPr>
            <a:r>
              <a:t>•  </a:t>
            </a:r>
            <a:r>
              <a:rPr sz="919" b="0">
                <a:solidFill>
                  <a:srgbClr val="1E293B"/>
                </a:solidFill>
              </a:rPr>
              <a:t>Targets bumper-to-bumper vehicle queues where regular anchors overlap. Predicts midpoint offsets on horizontal anchors to create oriented proposals without guessing angles.</a:t>
            </a:r>
          </a:p>
          <a:p>
            <a:pPr>
              <a:spcBef>
                <a:spcPts val="200"/>
              </a:spcBef>
              <a:defRPr sz="919" b="1">
                <a:solidFill>
                  <a:srgbClr val="B91C1C"/>
                </a:solidFill>
                <a:latin typeface="Arial"/>
              </a:defRPr>
            </a:pPr>
            <a:r>
              <a:t>•  </a:t>
            </a:r>
            <a:r>
              <a:rPr sz="919" b="0">
                <a:solidFill>
                  <a:srgbClr val="1E293B"/>
                </a:solidFill>
              </a:rPr>
              <a:t>Two-stage proposals and polygon NMS take too much compute, running under 5 FPS on edge chips. Shows midpoint offsets work, but we need a single-stage version for drones.</a:t>
            </a:r>
          </a:p>
        </p:txBody>
      </p:sp>
      <p:sp>
        <p:nvSpPr>
          <p:cNvPr id="7" name="Rectangle 6"/>
          <p:cNvSpPr/>
          <p:nvPr/>
        </p:nvSpPr>
        <p:spPr>
          <a:xfrm>
            <a:off x="731520" y="3557016"/>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602736"/>
            <a:ext cx="10728655" cy="960120"/>
          </a:xfrm>
          <a:prstGeom prst="rect">
            <a:avLst/>
          </a:prstGeom>
          <a:noFill/>
        </p:spPr>
        <p:txBody>
          <a:bodyPr wrap="square" lIns="0" tIns="0" rIns="0" bIns="0">
            <a:spAutoFit/>
          </a:bodyPr>
          <a:lstStyle/>
          <a:p>
            <a:pPr>
              <a:defRPr sz="1050" b="1">
                <a:solidFill>
                  <a:srgbClr val="1D4ED8"/>
                </a:solidFill>
                <a:latin typeface="Arial"/>
              </a:defRPr>
            </a:pPr>
            <a:r>
              <a:t>3. ReDet (Han et al., CVPR 2021)  </a:t>
            </a:r>
            <a:r>
              <a:rPr sz="919" b="0">
                <a:solidFill>
                  <a:srgbClr val="64748B"/>
                </a:solidFill>
              </a:rPr>
              <a:t>|  Rotation-Equivariant ResNet + RiRoI  •  DOTA-v1.0, HRSC2016, CODrone  •  80.1% mAP on DOTA, 90.5% on HRSC</a:t>
            </a:r>
          </a:p>
          <a:p>
            <a:pPr>
              <a:spcBef>
                <a:spcPts val="250"/>
              </a:spcBef>
              <a:defRPr sz="919" b="1">
                <a:solidFill>
                  <a:srgbClr val="0F172A"/>
                </a:solidFill>
                <a:latin typeface="Arial"/>
              </a:defRPr>
            </a:pPr>
            <a:r>
              <a:t>•  </a:t>
            </a:r>
            <a:r>
              <a:rPr sz="919" b="0">
                <a:solidFill>
                  <a:srgbClr val="1E293B"/>
                </a:solidFill>
              </a:rPr>
              <a:t>Addresses drone banking and camera rotation during flight. Incorporates rotation-equivariant convolutions and extracts rotation-invariant features using RiRoI Align.</a:t>
            </a:r>
          </a:p>
          <a:p>
            <a:pPr>
              <a:spcBef>
                <a:spcPts val="200"/>
              </a:spcBef>
              <a:defRPr sz="919" b="1">
                <a:solidFill>
                  <a:srgbClr val="B91C1C"/>
                </a:solidFill>
                <a:latin typeface="Arial"/>
              </a:defRPr>
            </a:pPr>
            <a:r>
              <a:t>•  </a:t>
            </a:r>
            <a:r>
              <a:rPr sz="919" b="0">
                <a:solidFill>
                  <a:srgbClr val="1E293B"/>
                </a:solidFill>
              </a:rPr>
              <a:t>Multiple orientation channels demand heavy GPU memory and slow down inference. Confirms rotation-invariant features are necessary to keep detections stable during drone turns.</a:t>
            </a:r>
          </a:p>
        </p:txBody>
      </p:sp>
      <p:sp>
        <p:nvSpPr>
          <p:cNvPr id="9" name="Rectangle 8"/>
          <p:cNvSpPr/>
          <p:nvPr/>
        </p:nvSpPr>
        <p:spPr>
          <a:xfrm>
            <a:off x="731520" y="4590288"/>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636008"/>
            <a:ext cx="10728655" cy="960120"/>
          </a:xfrm>
          <a:prstGeom prst="rect">
            <a:avLst/>
          </a:prstGeom>
          <a:noFill/>
        </p:spPr>
        <p:txBody>
          <a:bodyPr wrap="square" lIns="0" tIns="0" rIns="0" bIns="0">
            <a:spAutoFit/>
          </a:bodyPr>
          <a:lstStyle/>
          <a:p>
            <a:pPr>
              <a:defRPr sz="1050" b="1">
                <a:solidFill>
                  <a:srgbClr val="1D4ED8"/>
                </a:solidFill>
                <a:latin typeface="Arial"/>
              </a:defRPr>
            </a:pPr>
            <a:r>
              <a:t>4. R3Det (Yang et al., AAAI 2021)  </a:t>
            </a:r>
            <a:r>
              <a:rPr sz="919" b="0">
                <a:solidFill>
                  <a:srgbClr val="64748B"/>
                </a:solidFill>
              </a:rPr>
              <a:t>|  Refined RetinaNet + FRM  •  DOTA-v1.0, HRSC2016, UCAS-AOD  •  89.3% mAP on HRSC at 12 FPS</a:t>
            </a:r>
          </a:p>
          <a:p>
            <a:pPr>
              <a:spcBef>
                <a:spcPts val="250"/>
              </a:spcBef>
              <a:defRPr sz="919" b="1">
                <a:solidFill>
                  <a:srgbClr val="0F172A"/>
                </a:solidFill>
                <a:latin typeface="Arial"/>
              </a:defRPr>
            </a:pPr>
            <a:r>
              <a:t>•  </a:t>
            </a:r>
            <a:r>
              <a:rPr sz="919" b="0">
                <a:solidFill>
                  <a:srgbClr val="1E293B"/>
                </a:solidFill>
              </a:rPr>
              <a:t>Solves feature misalignment for long vehicles sitting diagonally across axis-aligned feature grids. Uses a coarse-to-fine loop that interpolates 5 points to realign feature maps.</a:t>
            </a:r>
          </a:p>
          <a:p>
            <a:pPr>
              <a:spcBef>
                <a:spcPts val="200"/>
              </a:spcBef>
              <a:defRPr sz="919" b="1">
                <a:solidFill>
                  <a:srgbClr val="B91C1C"/>
                </a:solidFill>
                <a:latin typeface="Arial"/>
              </a:defRPr>
            </a:pPr>
            <a:r>
              <a:t>•  </a:t>
            </a:r>
            <a:r>
              <a:rPr sz="919" b="0">
                <a:solidFill>
                  <a:srgbClr val="1E293B"/>
                </a:solidFill>
              </a:rPr>
              <a:t>Corner sampling points lock rigidly to box boundaries, picking up road noise on non-rectangular objects. Proves feature alignment is the main hurdle for single-stage models.</a:t>
            </a:r>
          </a:p>
        </p:txBody>
      </p:sp>
      <p:sp>
        <p:nvSpPr>
          <p:cNvPr id="11" name="Rectangle 10"/>
          <p:cNvSpPr/>
          <p:nvPr/>
        </p:nvSpPr>
        <p:spPr>
          <a:xfrm>
            <a:off x="731520" y="5623560"/>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669280"/>
            <a:ext cx="10728655" cy="960120"/>
          </a:xfrm>
          <a:prstGeom prst="rect">
            <a:avLst/>
          </a:prstGeom>
          <a:noFill/>
        </p:spPr>
        <p:txBody>
          <a:bodyPr wrap="square" lIns="0" tIns="0" rIns="0" bIns="0">
            <a:spAutoFit/>
          </a:bodyPr>
          <a:lstStyle/>
          <a:p>
            <a:pPr>
              <a:defRPr sz="1050" b="1">
                <a:solidFill>
                  <a:srgbClr val="1D4ED8"/>
                </a:solidFill>
                <a:latin typeface="Arial"/>
              </a:defRPr>
            </a:pPr>
            <a:r>
              <a:t>5. LSKNet (Li et al., ICCV 2023)  </a:t>
            </a:r>
            <a:r>
              <a:rPr sz="919" b="0">
                <a:solidFill>
                  <a:srgbClr val="64748B"/>
                </a:solidFill>
              </a:rPr>
              <a:t>|  Large Selective Kernel Network  •  DOTA-v1.0, CODrone Benchmark  •  46.9% AP50 (Rank 1 on CODrone)</a:t>
            </a:r>
          </a:p>
          <a:p>
            <a:pPr>
              <a:spcBef>
                <a:spcPts val="250"/>
              </a:spcBef>
              <a:defRPr sz="919" b="1">
                <a:solidFill>
                  <a:srgbClr val="0F172A"/>
                </a:solidFill>
                <a:latin typeface="Arial"/>
              </a:defRPr>
            </a:pPr>
            <a:r>
              <a:t>•  </a:t>
            </a:r>
            <a:r>
              <a:rPr sz="919" b="0">
                <a:solidFill>
                  <a:srgbClr val="1E293B"/>
                </a:solidFill>
              </a:rPr>
              <a:t>Tackles tiny targets that blend into complicated city backgrounds. Dynamically adjusts receptive fields up to 23x23 using depthwise kernels to gather wider context around small vehicles.</a:t>
            </a:r>
          </a:p>
          <a:p>
            <a:pPr>
              <a:spcBef>
                <a:spcPts val="200"/>
              </a:spcBef>
              <a:defRPr sz="919" b="1">
                <a:solidFill>
                  <a:srgbClr val="B91C1C"/>
                </a:solidFill>
                <a:latin typeface="Arial"/>
              </a:defRPr>
            </a:pPr>
            <a:r>
              <a:t>•  </a:t>
            </a:r>
            <a:r>
              <a:rPr sz="919" b="0">
                <a:solidFill>
                  <a:srgbClr val="1E293B"/>
                </a:solidFill>
              </a:rPr>
              <a:t>Large kernels draw significant memory bandwidth, reducing frame rates on edge hardware. Proves that small drone targets need surrounding context to stand out from road clutter.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960120"/>
          </a:xfrm>
          <a:prstGeom prst="rect">
            <a:avLst/>
          </a:prstGeom>
          <a:noFill/>
        </p:spPr>
        <p:txBody>
          <a:bodyPr wrap="square" lIns="0" tIns="0" rIns="0" bIns="0">
            <a:spAutoFit/>
          </a:bodyPr>
          <a:lstStyle/>
          <a:p>
            <a:pPr>
              <a:defRPr sz="950" b="1">
                <a:solidFill>
                  <a:srgbClr val="1D4ED8"/>
                </a:solidFill>
                <a:latin typeface="Arial"/>
              </a:defRPr>
            </a:pPr>
            <a:r>
              <a:t>PAPERS 6 TO 10 (2021-2024)</a:t>
            </a:r>
          </a:p>
          <a:p>
            <a:pPr>
              <a:spcBef>
                <a:spcPts val="300"/>
              </a:spcBef>
              <a:defRPr sz="2000" b="1">
                <a:solidFill>
                  <a:srgbClr val="0F172A"/>
                </a:solidFill>
                <a:latin typeface="Arial"/>
              </a:defRPr>
            </a:pPr>
            <a:r>
              <a:t>Gaussian Losses, Real-Time Edge YOLO, and Radar Target Isolation</a:t>
            </a:r>
          </a:p>
          <a:p>
            <a:pPr>
              <a:spcBef>
                <a:spcPts val="300"/>
              </a:spcBef>
              <a:defRPr sz="1050">
                <a:solidFill>
                  <a:srgbClr val="64748B"/>
                </a:solidFill>
                <a:latin typeface="Arial"/>
              </a:defRPr>
            </a:pPr>
            <a:r>
              <a:t>Continuous regression formulations and real-time models built for noise and hardware constraints.</a:t>
            </a:r>
          </a:p>
        </p:txBody>
      </p:sp>
      <p:sp>
        <p:nvSpPr>
          <p:cNvPr id="3" name="Rectangle 2"/>
          <p:cNvSpPr/>
          <p:nvPr/>
        </p:nvSpPr>
        <p:spPr>
          <a:xfrm>
            <a:off x="731520" y="1389888"/>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36192"/>
            <a:ext cx="10728655" cy="960120"/>
          </a:xfrm>
          <a:prstGeom prst="rect">
            <a:avLst/>
          </a:prstGeom>
          <a:noFill/>
        </p:spPr>
        <p:txBody>
          <a:bodyPr wrap="square" lIns="0" tIns="0" rIns="0" bIns="0">
            <a:spAutoFit/>
          </a:bodyPr>
          <a:lstStyle/>
          <a:p>
            <a:pPr>
              <a:defRPr sz="1050" b="1">
                <a:solidFill>
                  <a:srgbClr val="1D4ED8"/>
                </a:solidFill>
                <a:latin typeface="Arial"/>
              </a:defRPr>
            </a:pPr>
            <a:r>
              <a:t>6. GWD Loss (Yang et al., ICML 2021)  </a:t>
            </a:r>
            <a:r>
              <a:rPr sz="919" b="0">
                <a:solidFill>
                  <a:srgbClr val="64748B"/>
                </a:solidFill>
              </a:rPr>
              <a:t>|  RetinaNet-R / R3Det with GWD  •  DOTA-v1.0, HRSC2016, UCAS-AOD  •  +32.3% AP75 gain on HRSC2016</a:t>
            </a:r>
          </a:p>
          <a:p>
            <a:pPr>
              <a:spcBef>
                <a:spcPts val="250"/>
              </a:spcBef>
              <a:defRPr sz="919" b="1">
                <a:solidFill>
                  <a:srgbClr val="0F172A"/>
                </a:solidFill>
                <a:latin typeface="Arial"/>
              </a:defRPr>
            </a:pPr>
            <a:r>
              <a:t>•  </a:t>
            </a:r>
            <a:r>
              <a:rPr sz="919" b="0">
                <a:solidFill>
                  <a:srgbClr val="1E293B"/>
                </a:solidFill>
              </a:rPr>
              <a:t>Eliminates sudden loss spikes when diagonal vehicles cross the 0° or 180° boundary. Converts rotated boxes into 2D Gaussians and measures distance with Wasserstein optimal transport.</a:t>
            </a:r>
          </a:p>
          <a:p>
            <a:pPr>
              <a:spcBef>
                <a:spcPts val="200"/>
              </a:spcBef>
              <a:defRPr sz="919" b="1">
                <a:solidFill>
                  <a:srgbClr val="B91C1C"/>
                </a:solidFill>
                <a:latin typeface="Arial"/>
              </a:defRPr>
            </a:pPr>
            <a:r>
              <a:t>•  </a:t>
            </a:r>
            <a:r>
              <a:rPr sz="919" b="0">
                <a:solidFill>
                  <a:srgbClr val="1E293B"/>
                </a:solidFill>
              </a:rPr>
              <a:t>Center point distance is decoupled from shape covariance, and loss magnitude shifts with box scale. Established Gaussian modeling as the primary way to smooth rotated box regression.</a:t>
            </a:r>
          </a:p>
        </p:txBody>
      </p:sp>
      <p:sp>
        <p:nvSpPr>
          <p:cNvPr id="5" name="Rectangle 4"/>
          <p:cNvSpPr/>
          <p:nvPr/>
        </p:nvSpPr>
        <p:spPr>
          <a:xfrm>
            <a:off x="731520" y="2523744"/>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569464"/>
            <a:ext cx="10728655" cy="960120"/>
          </a:xfrm>
          <a:prstGeom prst="rect">
            <a:avLst/>
          </a:prstGeom>
          <a:noFill/>
        </p:spPr>
        <p:txBody>
          <a:bodyPr wrap="square" lIns="0" tIns="0" rIns="0" bIns="0">
            <a:spAutoFit/>
          </a:bodyPr>
          <a:lstStyle/>
          <a:p>
            <a:pPr>
              <a:defRPr sz="1050" b="1">
                <a:solidFill>
                  <a:srgbClr val="1D4ED8"/>
                </a:solidFill>
                <a:latin typeface="Arial"/>
              </a:defRPr>
            </a:pPr>
            <a:r>
              <a:t>7. KLD Loss (Yang et al., NeurIPS 2021)  </a:t>
            </a:r>
            <a:r>
              <a:rPr sz="919" b="0">
                <a:solidFill>
                  <a:srgbClr val="64748B"/>
                </a:solidFill>
              </a:rPr>
              <a:t>|  Single/Two-Stage with KLD  •  DOTA-v1.0/1.5/2.0, HRSC2016  •  80.6% mAP on DOTA, strong AP75 gains</a:t>
            </a:r>
          </a:p>
          <a:p>
            <a:pPr>
              <a:spcBef>
                <a:spcPts val="250"/>
              </a:spcBef>
              <a:defRPr sz="919" b="1">
                <a:solidFill>
                  <a:srgbClr val="0F172A"/>
                </a:solidFill>
                <a:latin typeface="Arial"/>
              </a:defRPr>
            </a:pPr>
            <a:r>
              <a:t>•  </a:t>
            </a:r>
            <a:r>
              <a:rPr sz="919" b="0">
                <a:solidFill>
                  <a:srgbClr val="1E293B"/>
                </a:solidFill>
              </a:rPr>
              <a:t>Fixes gradient instability on high-aspect-ratio vehicles and tiny targets. Uses KL divergence between 2D Gaussians with affine scale invariance and self-adjusting parameter gradients.</a:t>
            </a:r>
          </a:p>
          <a:p>
            <a:pPr>
              <a:spcBef>
                <a:spcPts val="200"/>
              </a:spcBef>
              <a:defRPr sz="919" b="1">
                <a:solidFill>
                  <a:srgbClr val="B91C1C"/>
                </a:solidFill>
                <a:latin typeface="Arial"/>
              </a:defRPr>
            </a:pPr>
            <a:r>
              <a:t>•  </a:t>
            </a:r>
            <a:r>
              <a:rPr sz="919" b="0">
                <a:solidFill>
                  <a:srgbClr val="1E293B"/>
                </a:solidFill>
              </a:rPr>
              <a:t>Does not solve spatial resolution loss for sub-15px targets at high flight altitudes. Our primary loss choice to give single-stage YOLO tight AP75 localization without latency cost.</a:t>
            </a:r>
          </a:p>
        </p:txBody>
      </p:sp>
      <p:sp>
        <p:nvSpPr>
          <p:cNvPr id="7" name="Rectangle 6"/>
          <p:cNvSpPr/>
          <p:nvPr/>
        </p:nvSpPr>
        <p:spPr>
          <a:xfrm>
            <a:off x="731520" y="3557016"/>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602736"/>
            <a:ext cx="10728655" cy="960120"/>
          </a:xfrm>
          <a:prstGeom prst="rect">
            <a:avLst/>
          </a:prstGeom>
          <a:noFill/>
        </p:spPr>
        <p:txBody>
          <a:bodyPr wrap="square" lIns="0" tIns="0" rIns="0" bIns="0">
            <a:spAutoFit/>
          </a:bodyPr>
          <a:lstStyle/>
          <a:p>
            <a:pPr>
              <a:defRPr sz="1050" b="1">
                <a:solidFill>
                  <a:srgbClr val="1D4ED8"/>
                </a:solidFill>
                <a:latin typeface="Arial"/>
              </a:defRPr>
            </a:pPr>
            <a:r>
              <a:t>8. Oriented Vehicle YOLOv4 (Survey Paper, Survey 2021)  </a:t>
            </a:r>
            <a:r>
              <a:rPr sz="919" b="0">
                <a:solidFill>
                  <a:srgbClr val="64748B"/>
                </a:solidFill>
              </a:rPr>
              <a:t>|  Modified YOLOv4 Front-Point Head  •  DOTA vehicle subsets, HRSC2016  •  93.7% mAP at 52.6 FPS</a:t>
            </a:r>
          </a:p>
          <a:p>
            <a:pPr>
              <a:spcBef>
                <a:spcPts val="250"/>
              </a:spcBef>
              <a:defRPr sz="919" b="1">
                <a:solidFill>
                  <a:srgbClr val="0F172A"/>
                </a:solidFill>
                <a:latin typeface="Arial"/>
              </a:defRPr>
            </a:pPr>
            <a:r>
              <a:t>•  </a:t>
            </a:r>
            <a:r>
              <a:rPr sz="919" b="0">
                <a:solidFill>
                  <a:srgbClr val="1E293B"/>
                </a:solidFill>
              </a:rPr>
              <a:t>Built for dense vehicle traffic where fast onboard inference is required. Predicts front-point coordinate offsets instead of an angle parameter to bypass boundary jumps.</a:t>
            </a:r>
          </a:p>
          <a:p>
            <a:pPr>
              <a:spcBef>
                <a:spcPts val="200"/>
              </a:spcBef>
              <a:defRPr sz="919" b="1">
                <a:solidFill>
                  <a:srgbClr val="B91C1C"/>
                </a:solidFill>
                <a:latin typeface="Arial"/>
              </a:defRPr>
            </a:pPr>
            <a:r>
              <a:t>•  </a:t>
            </a:r>
            <a:r>
              <a:rPr sz="919" b="0">
                <a:solidFill>
                  <a:srgbClr val="1E293B"/>
                </a:solidFill>
              </a:rPr>
              <a:t>Breaks down on symmetric vehicles or cars where front and rear look identical, such as buses or trailers. Proves YOLO can run fast on aerial vehicles if angle prediction is stabilized.</a:t>
            </a:r>
          </a:p>
        </p:txBody>
      </p:sp>
      <p:sp>
        <p:nvSpPr>
          <p:cNvPr id="9" name="Rectangle 8"/>
          <p:cNvSpPr/>
          <p:nvPr/>
        </p:nvSpPr>
        <p:spPr>
          <a:xfrm>
            <a:off x="731520" y="4590288"/>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636008"/>
            <a:ext cx="10728655" cy="960120"/>
          </a:xfrm>
          <a:prstGeom prst="rect">
            <a:avLst/>
          </a:prstGeom>
          <a:noFill/>
        </p:spPr>
        <p:txBody>
          <a:bodyPr wrap="square" lIns="0" tIns="0" rIns="0" bIns="0">
            <a:spAutoFit/>
          </a:bodyPr>
          <a:lstStyle/>
          <a:p>
            <a:pPr>
              <a:defRPr sz="1050" b="1">
                <a:solidFill>
                  <a:srgbClr val="1D4ED8"/>
                </a:solidFill>
                <a:latin typeface="Arial"/>
              </a:defRPr>
            </a:pPr>
            <a:r>
              <a:t>9. Lightweight DroneNet (GAR) (Survey Paper, Survey 2022)  </a:t>
            </a:r>
            <a:r>
              <a:rPr sz="919" b="0">
                <a:solidFill>
                  <a:srgbClr val="64748B"/>
                </a:solidFill>
              </a:rPr>
              <a:t>|  CSP Transformer + Multi-Path Fusion  •  UAV-ROD (1.5k imgs), UCAS-AOD  •  High Precision on UAV-ROD</a:t>
            </a:r>
          </a:p>
          <a:p>
            <a:pPr>
              <a:spcBef>
                <a:spcPts val="250"/>
              </a:spcBef>
              <a:defRPr sz="919" b="1">
                <a:solidFill>
                  <a:srgbClr val="0F172A"/>
                </a:solidFill>
                <a:latin typeface="Arial"/>
              </a:defRPr>
            </a:pPr>
            <a:r>
              <a:t>•  </a:t>
            </a:r>
            <a:r>
              <a:rPr sz="919" b="0">
                <a:solidFill>
                  <a:srgbClr val="1E293B"/>
                </a:solidFill>
              </a:rPr>
              <a:t>Balances vehicle spatial interactions against strict drone compute limits. Blends self-attention with multi-path convolution and discrete angle classification.</a:t>
            </a:r>
          </a:p>
          <a:p>
            <a:pPr>
              <a:spcBef>
                <a:spcPts val="200"/>
              </a:spcBef>
              <a:defRPr sz="919" b="1">
                <a:solidFill>
                  <a:srgbClr val="B91C1C"/>
                </a:solidFill>
                <a:latin typeface="Arial"/>
              </a:defRPr>
            </a:pPr>
            <a:r>
              <a:t>•  </a:t>
            </a:r>
            <a:r>
              <a:rPr sz="919" b="0">
                <a:solidFill>
                  <a:srgbClr val="1E293B"/>
                </a:solidFill>
              </a:rPr>
              <a:t>Splitting angles into discrete bins creates quantization errors that cap rotational accuracy. Shows global attention helps aerial detection, but continuous losses beat discrete bins.</a:t>
            </a:r>
          </a:p>
        </p:txBody>
      </p:sp>
      <p:sp>
        <p:nvSpPr>
          <p:cNvPr id="11" name="Rectangle 10"/>
          <p:cNvSpPr/>
          <p:nvPr/>
        </p:nvSpPr>
        <p:spPr>
          <a:xfrm>
            <a:off x="731520" y="5623560"/>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669280"/>
            <a:ext cx="10728655" cy="960120"/>
          </a:xfrm>
          <a:prstGeom prst="rect">
            <a:avLst/>
          </a:prstGeom>
          <a:noFill/>
        </p:spPr>
        <p:txBody>
          <a:bodyPr wrap="square" lIns="0" tIns="0" rIns="0" bIns="0">
            <a:spAutoFit/>
          </a:bodyPr>
          <a:lstStyle/>
          <a:p>
            <a:pPr>
              <a:defRPr sz="1050" b="1">
                <a:solidFill>
                  <a:srgbClr val="1D4ED8"/>
                </a:solidFill>
                <a:latin typeface="Arial"/>
              </a:defRPr>
            </a:pPr>
            <a:r>
              <a:t>10. SAR-YOLOv8 (Survey Paper, Survey 2024)  </a:t>
            </a:r>
            <a:r>
              <a:rPr sz="919" b="0">
                <a:solidFill>
                  <a:srgbClr val="64748B"/>
                </a:solidFill>
              </a:rPr>
              <a:t>|  YOLOv8-OBB for Radar Imagery  •  SIVED SAR dataset (~1,000 chips)  •  99.8% mAP on SAR targets</a:t>
            </a:r>
          </a:p>
          <a:p>
            <a:pPr>
              <a:spcBef>
                <a:spcPts val="250"/>
              </a:spcBef>
              <a:defRPr sz="919" b="1">
                <a:solidFill>
                  <a:srgbClr val="0F172A"/>
                </a:solidFill>
                <a:latin typeface="Arial"/>
              </a:defRPr>
            </a:pPr>
            <a:r>
              <a:t>•  </a:t>
            </a:r>
            <a:r>
              <a:rPr sz="919" b="0">
                <a:solidFill>
                  <a:srgbClr val="1E293B"/>
                </a:solidFill>
              </a:rPr>
              <a:t>Targets vehicles under poor visibility and heavy radar speckle noise. Uses YOLOv8 oriented bounding box heads to separate target returns from radar sidelobes.</a:t>
            </a:r>
          </a:p>
          <a:p>
            <a:pPr>
              <a:spcBef>
                <a:spcPts val="200"/>
              </a:spcBef>
              <a:defRPr sz="919" b="1">
                <a:solidFill>
                  <a:srgbClr val="B91C1C"/>
                </a:solidFill>
                <a:latin typeface="Arial"/>
              </a:defRPr>
            </a:pPr>
            <a:r>
              <a:t>•  </a:t>
            </a:r>
            <a:r>
              <a:rPr sz="919" b="0">
                <a:solidFill>
                  <a:srgbClr val="1E293B"/>
                </a:solidFill>
              </a:rPr>
              <a:t>Near-perfect 99.8% mAP points to overfitting on a tiny dataset, with minimal structural changes. Confirms that standard YOLOv8-OBB is a dependable base for isolating rotated objects in noisy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960120"/>
          </a:xfrm>
          <a:prstGeom prst="rect">
            <a:avLst/>
          </a:prstGeom>
          <a:noFill/>
        </p:spPr>
        <p:txBody>
          <a:bodyPr wrap="square" lIns="0" tIns="0" rIns="0" bIns="0">
            <a:spAutoFit/>
          </a:bodyPr>
          <a:lstStyle/>
          <a:p>
            <a:pPr>
              <a:defRPr sz="950" b="1">
                <a:solidFill>
                  <a:srgbClr val="1D4ED8"/>
                </a:solidFill>
                <a:latin typeface="Arial"/>
              </a:defRPr>
            </a:pPr>
            <a:r>
              <a:t>PAPERS 11 TO 15 (2022-2026)</a:t>
            </a:r>
          </a:p>
          <a:p>
            <a:pPr>
              <a:spcBef>
                <a:spcPts val="300"/>
              </a:spcBef>
              <a:defRPr sz="2000" b="1">
                <a:solidFill>
                  <a:srgbClr val="0F172A"/>
                </a:solidFill>
                <a:latin typeface="Arial"/>
              </a:defRPr>
            </a:pPr>
            <a:r>
              <a:t>Night Illumination, Weak Labels, and Modern 4K UAV Benchmarks</a:t>
            </a:r>
          </a:p>
          <a:p>
            <a:pPr>
              <a:spcBef>
                <a:spcPts val="300"/>
              </a:spcBef>
              <a:defRPr sz="1050">
                <a:solidFill>
                  <a:srgbClr val="64748B"/>
                </a:solidFill>
                <a:latin typeface="Arial"/>
              </a:defRPr>
            </a:pPr>
            <a:r>
              <a:t>Cross-spectral sensing, single-point labeling, and modern multi-tilt drone flight benchmarks.</a:t>
            </a:r>
          </a:p>
        </p:txBody>
      </p:sp>
      <p:sp>
        <p:nvSpPr>
          <p:cNvPr id="3" name="Rectangle 2"/>
          <p:cNvSpPr/>
          <p:nvPr/>
        </p:nvSpPr>
        <p:spPr>
          <a:xfrm>
            <a:off x="731520" y="1389888"/>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36192"/>
            <a:ext cx="10728655" cy="960120"/>
          </a:xfrm>
          <a:prstGeom prst="rect">
            <a:avLst/>
          </a:prstGeom>
          <a:noFill/>
        </p:spPr>
        <p:txBody>
          <a:bodyPr wrap="square" lIns="0" tIns="0" rIns="0" bIns="0">
            <a:spAutoFit/>
          </a:bodyPr>
          <a:lstStyle/>
          <a:p>
            <a:pPr>
              <a:defRPr sz="1050" b="1">
                <a:solidFill>
                  <a:srgbClr val="1D4ED8"/>
                </a:solidFill>
                <a:latin typeface="Arial"/>
              </a:defRPr>
            </a:pPr>
            <a:r>
              <a:t>11. DroneVehicle (Sun et al., TCSVT 2022)  </a:t>
            </a:r>
            <a:r>
              <a:rPr sz="919" b="0">
                <a:solidFill>
                  <a:srgbClr val="64748B"/>
                </a:solidFill>
              </a:rPr>
              <a:t>|  UA-CMDet Two-Stream Fusion  •  DroneVehicle (56.8k paired RGB-IR imgs)  •  64.0% mAP (+16.1% over single stream)</a:t>
            </a:r>
          </a:p>
          <a:p>
            <a:pPr>
              <a:spcBef>
                <a:spcPts val="250"/>
              </a:spcBef>
              <a:defRPr sz="919" b="1">
                <a:solidFill>
                  <a:srgbClr val="0F172A"/>
                </a:solidFill>
                <a:latin typeface="Arial"/>
              </a:defRPr>
            </a:pPr>
            <a:r>
              <a:t>•  </a:t>
            </a:r>
            <a:r>
              <a:rPr sz="919" b="0">
                <a:solidFill>
                  <a:srgbClr val="1E293B"/>
                </a:solidFill>
              </a:rPr>
              <a:t>Tackles day-to-night lighting shifts, dark shadows, and headlight glare. Combines RGB and thermal infrared frames using uncertainty-weighted fusion and illumination-aware NMS.</a:t>
            </a:r>
          </a:p>
          <a:p>
            <a:pPr>
              <a:spcBef>
                <a:spcPts val="200"/>
              </a:spcBef>
              <a:defRPr sz="919" b="1">
                <a:solidFill>
                  <a:srgbClr val="B91C1C"/>
                </a:solidFill>
                <a:latin typeface="Arial"/>
              </a:defRPr>
            </a:pPr>
            <a:r>
              <a:t>•  </a:t>
            </a:r>
            <a:r>
              <a:rPr sz="919" b="0">
                <a:solidFill>
                  <a:srgbClr val="1E293B"/>
                </a:solidFill>
              </a:rPr>
              <a:t>Needs calibrated dual cameras, RGB night frames are pitch black, and image size is small (840x712). Highlights RGB limits in darkness, confirming pure RGB work needs daylight or lit streets.</a:t>
            </a:r>
          </a:p>
        </p:txBody>
      </p:sp>
      <p:sp>
        <p:nvSpPr>
          <p:cNvPr id="5" name="Rectangle 4"/>
          <p:cNvSpPr/>
          <p:nvPr/>
        </p:nvSpPr>
        <p:spPr>
          <a:xfrm>
            <a:off x="731520" y="2523744"/>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569464"/>
            <a:ext cx="10728655" cy="960120"/>
          </a:xfrm>
          <a:prstGeom prst="rect">
            <a:avLst/>
          </a:prstGeom>
          <a:noFill/>
        </p:spPr>
        <p:txBody>
          <a:bodyPr wrap="square" lIns="0" tIns="0" rIns="0" bIns="0">
            <a:spAutoFit/>
          </a:bodyPr>
          <a:lstStyle/>
          <a:p>
            <a:pPr>
              <a:defRPr sz="1050" b="1">
                <a:solidFill>
                  <a:srgbClr val="1D4ED8"/>
                </a:solidFill>
                <a:latin typeface="Arial"/>
              </a:defRPr>
            </a:pPr>
            <a:r>
              <a:t>12. PointOBB (Luo et al., CVPR 2024)  </a:t>
            </a:r>
            <a:r>
              <a:rPr sz="919" b="0">
                <a:solidFill>
                  <a:srgbClr val="64748B"/>
                </a:solidFill>
              </a:rPr>
              <a:t>|  Single-Point Supervised OOD  •  DOTA-v1.0, DIOR-R  •  38.1% mAP on DIOR-R (Single Points)</a:t>
            </a:r>
          </a:p>
          <a:p>
            <a:pPr>
              <a:spcBef>
                <a:spcPts val="250"/>
              </a:spcBef>
              <a:defRPr sz="919" b="1">
                <a:solidFill>
                  <a:srgbClr val="0F172A"/>
                </a:solidFill>
                <a:latin typeface="Arial"/>
              </a:defRPr>
            </a:pPr>
            <a:r>
              <a:t>•  </a:t>
            </a:r>
            <a:r>
              <a:rPr sz="919" b="0">
                <a:solidFill>
                  <a:srgbClr val="1E293B"/>
                </a:solidFill>
              </a:rPr>
              <a:t>Addresses high labeling costs in crowded scenes. Generates oriented boxes from a single point click per object using self-supervised scale estimation and rotation consistency.</a:t>
            </a:r>
          </a:p>
          <a:p>
            <a:pPr>
              <a:spcBef>
                <a:spcPts val="200"/>
              </a:spcBef>
              <a:defRPr sz="919" b="1">
                <a:solidFill>
                  <a:srgbClr val="B91C1C"/>
                </a:solidFill>
                <a:latin typeface="Arial"/>
              </a:defRPr>
            </a:pPr>
            <a:r>
              <a:t>•  </a:t>
            </a:r>
            <a:r>
              <a:rPr sz="919" b="0">
                <a:solidFill>
                  <a:srgbClr val="1E293B"/>
                </a:solidFill>
              </a:rPr>
              <a:t>Drops roughly 40% mAP compared to fully supervised detectors, which is too low for autonomous driving safety. Shows object symmetry helps find angles, offering ideas for semi-supervised pretraining.</a:t>
            </a:r>
          </a:p>
        </p:txBody>
      </p:sp>
      <p:sp>
        <p:nvSpPr>
          <p:cNvPr id="7" name="Rectangle 6"/>
          <p:cNvSpPr/>
          <p:nvPr/>
        </p:nvSpPr>
        <p:spPr>
          <a:xfrm>
            <a:off x="731520" y="3557016"/>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602736"/>
            <a:ext cx="10728655" cy="960120"/>
          </a:xfrm>
          <a:prstGeom prst="rect">
            <a:avLst/>
          </a:prstGeom>
          <a:noFill/>
        </p:spPr>
        <p:txBody>
          <a:bodyPr wrap="square" lIns="0" tIns="0" rIns="0" bIns="0">
            <a:spAutoFit/>
          </a:bodyPr>
          <a:lstStyle/>
          <a:p>
            <a:pPr>
              <a:defRPr sz="1050" b="1">
                <a:solidFill>
                  <a:srgbClr val="1D4ED8"/>
                </a:solidFill>
                <a:latin typeface="Arial"/>
              </a:defRPr>
            </a:pPr>
            <a:r>
              <a:t>13. Remote Sensing OOD Survey (Wang et al., Survey 2023)  </a:t>
            </a:r>
            <a:r>
              <a:rPr sz="919" b="0">
                <a:solidFill>
                  <a:srgbClr val="64748B"/>
                </a:solidFill>
              </a:rPr>
              <a:t>|  Taxonomy of 100+ Detectors  •  DOTA, HRSC, UCAS, DIOR-R  •  Broad Review of Architectures &amp; Losses</a:t>
            </a:r>
          </a:p>
          <a:p>
            <a:pPr>
              <a:spcBef>
                <a:spcPts val="250"/>
              </a:spcBef>
              <a:defRPr sz="919" b="1">
                <a:solidFill>
                  <a:srgbClr val="0F172A"/>
                </a:solidFill>
                <a:latin typeface="Arial"/>
              </a:defRPr>
            </a:pPr>
            <a:r>
              <a:t>•  </a:t>
            </a:r>
            <a:r>
              <a:rPr sz="919" b="0">
                <a:solidFill>
                  <a:srgbClr val="1E293B"/>
                </a:solidFill>
              </a:rPr>
              <a:t>Categorizes 100+ detectors tackling aerial hurdles: tiny scales, extreme length-to-width ratios, arbitrary angles, and cluttered backgrounds.</a:t>
            </a:r>
          </a:p>
          <a:p>
            <a:pPr>
              <a:spcBef>
                <a:spcPts val="200"/>
              </a:spcBef>
              <a:defRPr sz="919" b="1">
                <a:solidFill>
                  <a:srgbClr val="B91C1C"/>
                </a:solidFill>
                <a:latin typeface="Arial"/>
              </a:defRPr>
            </a:pPr>
            <a:r>
              <a:t>•  </a:t>
            </a:r>
            <a:r>
              <a:rPr sz="919" b="0">
                <a:solidFill>
                  <a:srgbClr val="1E293B"/>
                </a:solidFill>
              </a:rPr>
              <a:t>Concentrates on high-altitude satellite views without testing low-altitude drone pitch angles. Confirms that Gaussian distribution losses are the most reliable path for rotated boxes.</a:t>
            </a:r>
          </a:p>
        </p:txBody>
      </p:sp>
      <p:sp>
        <p:nvSpPr>
          <p:cNvPr id="9" name="Rectangle 8"/>
          <p:cNvSpPr/>
          <p:nvPr/>
        </p:nvSpPr>
        <p:spPr>
          <a:xfrm>
            <a:off x="731520" y="4590288"/>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636008"/>
            <a:ext cx="10728655" cy="960120"/>
          </a:xfrm>
          <a:prstGeom prst="rect">
            <a:avLst/>
          </a:prstGeom>
          <a:noFill/>
        </p:spPr>
        <p:txBody>
          <a:bodyPr wrap="square" lIns="0" tIns="0" rIns="0" bIns="0">
            <a:spAutoFit/>
          </a:bodyPr>
          <a:lstStyle/>
          <a:p>
            <a:pPr>
              <a:defRPr sz="1050" b="1">
                <a:solidFill>
                  <a:srgbClr val="1D4ED8"/>
                </a:solidFill>
                <a:latin typeface="Arial"/>
              </a:defRPr>
            </a:pPr>
            <a:r>
              <a:t>14. CODrone Benchmark (Ye et al., arXiv 2025)  </a:t>
            </a:r>
            <a:r>
              <a:rPr sz="919" b="0">
                <a:solidFill>
                  <a:srgbClr val="64748B"/>
                </a:solidFill>
              </a:rPr>
              <a:t>|  Benchmark of 22 SOTA Detectors  •  CODrone (10k 4K imgs, 596k boxes)  •  46.9% AP50 (LSKNet Top Performer)</a:t>
            </a:r>
          </a:p>
          <a:p>
            <a:pPr>
              <a:spcBef>
                <a:spcPts val="250"/>
              </a:spcBef>
              <a:defRPr sz="919" b="1">
                <a:solidFill>
                  <a:srgbClr val="0F172A"/>
                </a:solidFill>
                <a:latin typeface="Arial"/>
              </a:defRPr>
            </a:pPr>
            <a:r>
              <a:t>•  </a:t>
            </a:r>
            <a:r>
              <a:rPr sz="919" b="0">
                <a:solidFill>
                  <a:srgbClr val="1E293B"/>
                </a:solidFill>
              </a:rPr>
              <a:t>First 4K drone benchmark testing altitudes (30m, 60m, 100m) and tilt angles (30° oblique vs 90° top-down) to expose real flight weaknesses.</a:t>
            </a:r>
          </a:p>
          <a:p>
            <a:pPr>
              <a:spcBef>
                <a:spcPts val="200"/>
              </a:spcBef>
              <a:defRPr sz="919" b="1">
                <a:solidFill>
                  <a:srgbClr val="B91C1C"/>
                </a:solidFill>
                <a:latin typeface="Arial"/>
              </a:defRPr>
            </a:pPr>
            <a:r>
              <a:t>•  </a:t>
            </a:r>
            <a:r>
              <a:rPr sz="919" b="0">
                <a:solidFill>
                  <a:srgbClr val="1E293B"/>
                </a:solidFill>
              </a:rPr>
              <a:t>Exposes the localization cliff where all 22 models drop under 22% AP75, and 30° tilt cuts mAP by 8 to 12%. Our chosen primary benchmark and core baseline.</a:t>
            </a:r>
          </a:p>
        </p:txBody>
      </p:sp>
      <p:sp>
        <p:nvSpPr>
          <p:cNvPr id="11" name="Rectangle 10"/>
          <p:cNvSpPr/>
          <p:nvPr/>
        </p:nvSpPr>
        <p:spPr>
          <a:xfrm>
            <a:off x="731520" y="5623560"/>
            <a:ext cx="10728655" cy="6350"/>
          </a:xfrm>
          <a:prstGeom prst="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669280"/>
            <a:ext cx="10728655" cy="960120"/>
          </a:xfrm>
          <a:prstGeom prst="rect">
            <a:avLst/>
          </a:prstGeom>
          <a:noFill/>
        </p:spPr>
        <p:txBody>
          <a:bodyPr wrap="square" lIns="0" tIns="0" rIns="0" bIns="0">
            <a:spAutoFit/>
          </a:bodyPr>
          <a:lstStyle/>
          <a:p>
            <a:pPr>
              <a:defRPr sz="1050" b="1">
                <a:solidFill>
                  <a:srgbClr val="1D4ED8"/>
                </a:solidFill>
                <a:latin typeface="Arial"/>
              </a:defRPr>
            </a:pPr>
            <a:r>
              <a:t>15. UAV-OBB Dataset (Ahmad et al., DIB 2026)  </a:t>
            </a:r>
            <a:r>
              <a:rPr sz="919" b="0">
                <a:solidFill>
                  <a:srgbClr val="64748B"/>
                </a:solidFill>
              </a:rPr>
              <a:t>|  Small-Target YOLOv8-OBB  •  UAV-OBB (1.6k imgs, 46.8k boxes)  •  78.6% mAP50 / 61.8% mAP50-95</a:t>
            </a:r>
          </a:p>
          <a:p>
            <a:pPr>
              <a:spcBef>
                <a:spcPts val="250"/>
              </a:spcBef>
              <a:defRPr sz="919" b="1">
                <a:solidFill>
                  <a:srgbClr val="0F172A"/>
                </a:solidFill>
                <a:latin typeface="Arial"/>
              </a:defRPr>
            </a:pPr>
            <a:r>
              <a:t>•  </a:t>
            </a:r>
            <a:r>
              <a:rPr sz="919" b="0">
                <a:solidFill>
                  <a:srgbClr val="1E293B"/>
                </a:solidFill>
              </a:rPr>
              <a:t>Evaluates small vehicle detection in congested Chinese traffic, separating commercial taxis from private cars using native 4-corner YOLOv8-OBB labels.</a:t>
            </a:r>
          </a:p>
          <a:p>
            <a:pPr>
              <a:spcBef>
                <a:spcPts val="200"/>
              </a:spcBef>
              <a:defRPr sz="919" b="1">
                <a:solidFill>
                  <a:srgbClr val="B91C1C"/>
                </a:solidFill>
                <a:latin typeface="Arial"/>
              </a:defRPr>
            </a:pPr>
            <a:r>
              <a:t>•  </a:t>
            </a:r>
            <a:r>
              <a:rPr sz="919" b="0">
                <a:solidFill>
                  <a:srgbClr val="1E293B"/>
                </a:solidFill>
              </a:rPr>
              <a:t>Limited to vehicles only (no pedestrians or cyclists), with a static test split of just 16 images. Proves single-stage YOLO handles crowded city traffic and provides clean edge label formats.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960120"/>
          </a:xfrm>
          <a:prstGeom prst="rect">
            <a:avLst/>
          </a:prstGeom>
          <a:noFill/>
        </p:spPr>
        <p:txBody>
          <a:bodyPr wrap="square" lIns="0" tIns="0" rIns="0" bIns="0">
            <a:spAutoFit/>
          </a:bodyPr>
          <a:lstStyle/>
          <a:p>
            <a:pPr>
              <a:defRPr sz="950" b="1">
                <a:solidFill>
                  <a:srgbClr val="1D4ED8"/>
                </a:solidFill>
                <a:latin typeface="Arial"/>
              </a:defRPr>
            </a:pPr>
            <a:r>
              <a:t>DATASET BENCHMARK AUDIT IN CHALLENGING ENVIRONMENTS</a:t>
            </a:r>
          </a:p>
          <a:p>
            <a:pPr>
              <a:spcBef>
                <a:spcPts val="300"/>
              </a:spcBef>
              <a:defRPr sz="2000" b="1">
                <a:solidFill>
                  <a:srgbClr val="0F172A"/>
                </a:solidFill>
                <a:latin typeface="Arial"/>
              </a:defRPr>
            </a:pPr>
            <a:r>
              <a:t>Multi-Class Optical Datasets for Small Object Detection in Flight</a:t>
            </a:r>
          </a:p>
          <a:p>
            <a:pPr>
              <a:spcBef>
                <a:spcPts val="300"/>
              </a:spcBef>
              <a:defRPr sz="1050">
                <a:solidFill>
                  <a:srgbClr val="64748B"/>
                </a:solidFill>
                <a:latin typeface="Arial"/>
              </a:defRPr>
            </a:pPr>
            <a:r>
              <a:t>Comparing benchmark scale, resolution, altitude changes, camera tilt, and split links across candidate datasets.</a:t>
            </a:r>
          </a:p>
        </p:txBody>
      </p:sp>
      <p:sp>
        <p:nvSpPr>
          <p:cNvPr id="3" name="Rectangle 2"/>
          <p:cNvSpPr/>
          <p:nvPr/>
        </p:nvSpPr>
        <p:spPr>
          <a:xfrm>
            <a:off x="731520" y="1389888"/>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600200"/>
          <a:ext cx="10728655" cy="4892040"/>
        </p:xfrm>
        <a:graphic>
          <a:graphicData uri="http://schemas.openxmlformats.org/drawingml/2006/table">
            <a:tbl>
              <a:tblPr firstRow="1" bandRow="1">
                <a:tableStyleId>{5C22544A-7EE6-4342-B048-85BDC9FD1C3A}</a:tableStyleId>
              </a:tblPr>
              <a:tblGrid>
                <a:gridCol w="1645920"/>
                <a:gridCol w="1371600"/>
                <a:gridCol w="1737360"/>
                <a:gridCol w="1280160"/>
                <a:gridCol w="2651760"/>
                <a:gridCol w="2041855"/>
              </a:tblGrid>
              <a:tr h="815340">
                <a:tc>
                  <a:txBody>
                    <a:bodyPr/>
                    <a:lstStyle/>
                    <a:p>
                      <a:pPr>
                        <a:defRPr sz="980" b="1">
                          <a:solidFill>
                            <a:srgbClr val="0F172A"/>
                          </a:solidFill>
                          <a:latin typeface="Arial"/>
                        </a:defRPr>
                      </a:pPr>
                      <a:r>
                        <a:t>Dataset &amp; Year</a:t>
                      </a:r>
                    </a:p>
                  </a:txBody>
                  <a:tcPr anchor="ctr">
                    <a:solidFill>
                      <a:srgbClr val="F1F5F9"/>
                    </a:solidFill>
                  </a:tcPr>
                </a:tc>
                <a:tc>
                  <a:txBody>
                    <a:bodyPr/>
                    <a:lstStyle/>
                    <a:p>
                      <a:pPr>
                        <a:defRPr sz="980" b="1">
                          <a:solidFill>
                            <a:srgbClr val="0F172A"/>
                          </a:solidFill>
                          <a:latin typeface="Arial"/>
                        </a:defRPr>
                      </a:pPr>
                      <a:r>
                        <a:t>Scale (Img / Obj)</a:t>
                      </a:r>
                    </a:p>
                  </a:txBody>
                  <a:tcPr anchor="ctr">
                    <a:solidFill>
                      <a:srgbClr val="F1F5F9"/>
                    </a:solidFill>
                  </a:tcPr>
                </a:tc>
                <a:tc>
                  <a:txBody>
                    <a:bodyPr/>
                    <a:lstStyle/>
                    <a:p>
                      <a:pPr>
                        <a:defRPr sz="980" b="1">
                          <a:solidFill>
                            <a:srgbClr val="0F172A"/>
                          </a:solidFill>
                          <a:latin typeface="Arial"/>
                        </a:defRPr>
                      </a:pPr>
                      <a:r>
                        <a:t>Classes (Multi-Class)</a:t>
                      </a:r>
                    </a:p>
                  </a:txBody>
                  <a:tcPr anchor="ctr">
                    <a:solidFill>
                      <a:srgbClr val="F1F5F9"/>
                    </a:solidFill>
                  </a:tcPr>
                </a:tc>
                <a:tc>
                  <a:txBody>
                    <a:bodyPr/>
                    <a:lstStyle/>
                    <a:p>
                      <a:pPr>
                        <a:defRPr sz="980" b="1">
                          <a:solidFill>
                            <a:srgbClr val="0F172A"/>
                          </a:solidFill>
                          <a:latin typeface="Arial"/>
                        </a:defRPr>
                      </a:pPr>
                      <a:r>
                        <a:t>Resolution</a:t>
                      </a:r>
                    </a:p>
                  </a:txBody>
                  <a:tcPr anchor="ctr">
                    <a:solidFill>
                      <a:srgbClr val="F1F5F9"/>
                    </a:solidFill>
                  </a:tcPr>
                </a:tc>
                <a:tc>
                  <a:txBody>
                    <a:bodyPr/>
                    <a:lstStyle/>
                    <a:p>
                      <a:pPr>
                        <a:defRPr sz="980" b="1">
                          <a:solidFill>
                            <a:srgbClr val="0F172A"/>
                          </a:solidFill>
                          <a:latin typeface="Arial"/>
                        </a:defRPr>
                      </a:pPr>
                      <a:r>
                        <a:t>Challenging Conditions &amp; Splits</a:t>
                      </a:r>
                    </a:p>
                  </a:txBody>
                  <a:tcPr anchor="ctr">
                    <a:solidFill>
                      <a:srgbClr val="F1F5F9"/>
                    </a:solidFill>
                  </a:tcPr>
                </a:tc>
                <a:tc>
                  <a:txBody>
                    <a:bodyPr/>
                    <a:lstStyle/>
                    <a:p>
                      <a:pPr>
                        <a:defRPr sz="980" b="1">
                          <a:solidFill>
                            <a:srgbClr val="0F172A"/>
                          </a:solidFill>
                          <a:latin typeface="Arial"/>
                        </a:defRPr>
                      </a:pPr>
                      <a:r>
                        <a:t>Assessment for Our Work</a:t>
                      </a:r>
                    </a:p>
                  </a:txBody>
                  <a:tcPr anchor="ctr">
                    <a:solidFill>
                      <a:srgbClr val="F1F5F9"/>
                    </a:solidFill>
                  </a:tcPr>
                </a:tc>
              </a:tr>
              <a:tr h="815340">
                <a:tc>
                  <a:txBody>
                    <a:bodyPr/>
                    <a:lstStyle/>
                    <a:p>
                      <a:pPr>
                        <a:defRPr sz="880" b="1">
                          <a:solidFill>
                            <a:srgbClr val="1D4ED8"/>
                          </a:solidFill>
                          <a:latin typeface="Arial"/>
                        </a:defRPr>
                      </a:pPr>
                      <a:r>
                        <a:t>CODrone</a:t>
                      </a:r>
                      <a:br/>
                      <a:r>
                        <a:t>(Ye et al., 2025)</a:t>
                      </a:r>
                    </a:p>
                  </a:txBody>
                  <a:tcPr anchor="ctr">
                    <a:solidFill>
                      <a:srgbClr val="FFFFFF"/>
                    </a:solidFill>
                  </a:tcPr>
                </a:tc>
                <a:tc>
                  <a:txBody>
                    <a:bodyPr/>
                    <a:lstStyle/>
                    <a:p>
                      <a:pPr>
                        <a:defRPr sz="880">
                          <a:solidFill>
                            <a:srgbClr val="1E293B"/>
                          </a:solidFill>
                          <a:latin typeface="Arial"/>
                        </a:defRPr>
                      </a:pPr>
                      <a:r>
                        <a:t>10,004 imgs</a:t>
                      </a:r>
                      <a:br/>
                      <a:r>
                        <a:t>596,732 OBBs</a:t>
                      </a:r>
                    </a:p>
                  </a:txBody>
                  <a:tcPr anchor="ctr">
                    <a:solidFill>
                      <a:srgbClr val="FFFFFF"/>
                    </a:solidFill>
                  </a:tcPr>
                </a:tc>
                <a:tc>
                  <a:txBody>
                    <a:bodyPr/>
                    <a:lstStyle/>
                    <a:p>
                      <a:pPr>
                        <a:defRPr sz="880">
                          <a:solidFill>
                            <a:srgbClr val="1E293B"/>
                          </a:solidFill>
                          <a:latin typeface="Arial"/>
                        </a:defRPr>
                      </a:pPr>
                      <a:r>
                        <a:t>12 classes: cars, people, bikes, motors, signs, bridges, boats</a:t>
                      </a:r>
                    </a:p>
                  </a:txBody>
                  <a:tcPr anchor="ctr">
                    <a:solidFill>
                      <a:srgbClr val="FFFFFF"/>
                    </a:solidFill>
                  </a:tcPr>
                </a:tc>
                <a:tc>
                  <a:txBody>
                    <a:bodyPr/>
                    <a:lstStyle/>
                    <a:p>
                      <a:pPr>
                        <a:defRPr sz="880">
                          <a:solidFill>
                            <a:srgbClr val="1E293B"/>
                          </a:solidFill>
                          <a:latin typeface="Arial"/>
                        </a:defRPr>
                      </a:pPr>
                      <a:r>
                        <a:t>3840 x 2160</a:t>
                      </a:r>
                      <a:br/>
                      <a:r>
                        <a:t>(4K UHD RGB)</a:t>
                      </a:r>
                    </a:p>
                  </a:txBody>
                  <a:tcPr anchor="ctr">
                    <a:solidFill>
                      <a:srgbClr val="FFFFFF"/>
                    </a:solidFill>
                  </a:tcPr>
                </a:tc>
                <a:tc>
                  <a:txBody>
                    <a:bodyPr/>
                    <a:lstStyle/>
                    <a:p>
                      <a:pPr>
                        <a:defRPr sz="880">
                          <a:solidFill>
                            <a:srgbClr val="1E293B"/>
                          </a:solidFill>
                          <a:latin typeface="Arial"/>
                        </a:defRPr>
                      </a:pPr>
                      <a:r>
                        <a:t>Altitudes: 30m, 60m, 100m. Tilts: 30° oblique, 90° top-down.</a:t>
                      </a:r>
                      <a:br/>
                      <a:r>
                        <a:t>Train: 5,002 | Val: 2,000 | Test: 3,002.</a:t>
                      </a:r>
                      <a:br/>
                      <a:r>
                        <a:t>Link: github.com/AHideoKuzeA/CODrone</a:t>
                      </a:r>
                    </a:p>
                  </a:txBody>
                  <a:tcPr anchor="ctr">
                    <a:solidFill>
                      <a:srgbClr val="FFFFFF"/>
                    </a:solidFill>
                  </a:tcPr>
                </a:tc>
                <a:tc>
                  <a:txBody>
                    <a:bodyPr/>
                    <a:lstStyle/>
                    <a:p>
                      <a:pPr>
                        <a:defRPr sz="880" b="1">
                          <a:solidFill>
                            <a:srgbClr val="15803D"/>
                          </a:solidFill>
                          <a:latin typeface="Arial"/>
                        </a:defRPr>
                      </a:pPr>
                      <a:r>
                        <a:t>Best fit for our work. Full 4K optical RGB, real drone heights (30m-100m), 30° tilt tests, 12 classes, and open test splits.</a:t>
                      </a:r>
                    </a:p>
                  </a:txBody>
                  <a:tcPr anchor="ctr">
                    <a:solidFill>
                      <a:srgbClr val="FFFFFF"/>
                    </a:solidFill>
                  </a:tcPr>
                </a:tc>
              </a:tr>
              <a:tr h="815340">
                <a:tc>
                  <a:txBody>
                    <a:bodyPr/>
                    <a:lstStyle/>
                    <a:p>
                      <a:pPr>
                        <a:defRPr sz="880" b="1">
                          <a:solidFill>
                            <a:srgbClr val="1D4ED8"/>
                          </a:solidFill>
                          <a:latin typeface="Arial"/>
                        </a:defRPr>
                      </a:pPr>
                      <a:r>
                        <a:t>DOTA-v2.0</a:t>
                      </a:r>
                      <a:br/>
                      <a:r>
                        <a:t>(Ding et al., 2021)</a:t>
                      </a:r>
                    </a:p>
                  </a:txBody>
                  <a:tcPr anchor="ctr">
                    <a:solidFill>
                      <a:srgbClr val="F8FAFC"/>
                    </a:solidFill>
                  </a:tcPr>
                </a:tc>
                <a:tc>
                  <a:txBody>
                    <a:bodyPr/>
                    <a:lstStyle/>
                    <a:p>
                      <a:pPr>
                        <a:defRPr sz="880">
                          <a:solidFill>
                            <a:srgbClr val="1E293B"/>
                          </a:solidFill>
                          <a:latin typeface="Arial"/>
                        </a:defRPr>
                      </a:pPr>
                      <a:r>
                        <a:t>11,268 imgs</a:t>
                      </a:r>
                      <a:br/>
                      <a:r>
                        <a:t>1.79M OBBs</a:t>
                      </a:r>
                    </a:p>
                  </a:txBody>
                  <a:tcPr anchor="ctr">
                    <a:solidFill>
                      <a:srgbClr val="F8FAFC"/>
                    </a:solidFill>
                  </a:tcPr>
                </a:tc>
                <a:tc>
                  <a:txBody>
                    <a:bodyPr/>
                    <a:lstStyle/>
                    <a:p>
                      <a:pPr>
                        <a:defRPr sz="880">
                          <a:solidFill>
                            <a:srgbClr val="1E293B"/>
                          </a:solidFill>
                          <a:latin typeface="Arial"/>
                        </a:defRPr>
                      </a:pPr>
                      <a:r>
                        <a:t>18 classes: vehicles, planes, ships, harbors, bridges, containers</a:t>
                      </a:r>
                    </a:p>
                  </a:txBody>
                  <a:tcPr anchor="ctr">
                    <a:solidFill>
                      <a:srgbClr val="F8FAFC"/>
                    </a:solidFill>
                  </a:tcPr>
                </a:tc>
                <a:tc>
                  <a:txBody>
                    <a:bodyPr/>
                    <a:lstStyle/>
                    <a:p>
                      <a:pPr>
                        <a:defRPr sz="880">
                          <a:solidFill>
                            <a:srgbClr val="1E293B"/>
                          </a:solidFill>
                          <a:latin typeface="Arial"/>
                        </a:defRPr>
                      </a:pPr>
                      <a:r>
                        <a:t>Up to 29k x 27k</a:t>
                      </a:r>
                      <a:br/>
                      <a:r>
                        <a:t>(Optical RGB)</a:t>
                      </a:r>
                    </a:p>
                  </a:txBody>
                  <a:tcPr anchor="ctr">
                    <a:solidFill>
                      <a:srgbClr val="F8FAFC"/>
                    </a:solidFill>
                  </a:tcPr>
                </a:tc>
                <a:tc>
                  <a:txBody>
                    <a:bodyPr/>
                    <a:lstStyle/>
                    <a:p>
                      <a:pPr>
                        <a:defRPr sz="880">
                          <a:solidFill>
                            <a:srgbClr val="1E293B"/>
                          </a:solidFill>
                          <a:latin typeface="Arial"/>
                        </a:defRPr>
                      </a:pPr>
                      <a:r>
                        <a:t>High altitude satellite and aerial (&gt;200m).</a:t>
                      </a:r>
                      <a:br/>
                      <a:r>
                        <a:t>Train: 1,830 | Val: 593 | Test: 8,845.</a:t>
                      </a:r>
                      <a:br/>
                      <a:r>
                        <a:t>Link: captain-whu.github.io/DOTA</a:t>
                      </a:r>
                    </a:p>
                  </a:txBody>
                  <a:tcPr anchor="ctr">
                    <a:solidFill>
                      <a:srgbClr val="F8FAFC"/>
                    </a:solidFill>
                  </a:tcPr>
                </a:tc>
                <a:tc>
                  <a:txBody>
                    <a:bodyPr/>
                    <a:lstStyle/>
                    <a:p>
                      <a:pPr>
                        <a:defRPr sz="880">
                          <a:solidFill>
                            <a:srgbClr val="1E293B"/>
                          </a:solidFill>
                          <a:latin typeface="Arial"/>
                        </a:defRPr>
                      </a:pPr>
                      <a:r>
                        <a:t>Valuable benchmark, but mostly high satellite views (&gt;200m). Needs tile cropping and lacks low-altitude drone tilt.</a:t>
                      </a:r>
                    </a:p>
                  </a:txBody>
                  <a:tcPr anchor="ctr">
                    <a:solidFill>
                      <a:srgbClr val="F8FAFC"/>
                    </a:solidFill>
                  </a:tcPr>
                </a:tc>
              </a:tr>
              <a:tr h="815340">
                <a:tc>
                  <a:txBody>
                    <a:bodyPr/>
                    <a:lstStyle/>
                    <a:p>
                      <a:pPr>
                        <a:defRPr sz="880" b="1">
                          <a:solidFill>
                            <a:srgbClr val="1D4ED8"/>
                          </a:solidFill>
                          <a:latin typeface="Arial"/>
                        </a:defRPr>
                      </a:pPr>
                      <a:r>
                        <a:t>AI-TOD-v2</a:t>
                      </a:r>
                      <a:br/>
                      <a:r>
                        <a:t>(Wang et al., 2022)</a:t>
                      </a:r>
                    </a:p>
                  </a:txBody>
                  <a:tcPr anchor="ctr">
                    <a:solidFill>
                      <a:srgbClr val="FFFFFF"/>
                    </a:solidFill>
                  </a:tcPr>
                </a:tc>
                <a:tc>
                  <a:txBody>
                    <a:bodyPr/>
                    <a:lstStyle/>
                    <a:p>
                      <a:pPr>
                        <a:defRPr sz="880">
                          <a:solidFill>
                            <a:srgbClr val="1E293B"/>
                          </a:solidFill>
                          <a:latin typeface="Arial"/>
                        </a:defRPr>
                      </a:pPr>
                      <a:r>
                        <a:t>28,036 imgs</a:t>
                      </a:r>
                      <a:br/>
                      <a:r>
                        <a:t>700,621 boxes</a:t>
                      </a:r>
                    </a:p>
                  </a:txBody>
                  <a:tcPr anchor="ctr">
                    <a:solidFill>
                      <a:srgbClr val="FFFFFF"/>
                    </a:solidFill>
                  </a:tcPr>
                </a:tc>
                <a:tc>
                  <a:txBody>
                    <a:bodyPr/>
                    <a:lstStyle/>
                    <a:p>
                      <a:pPr>
                        <a:defRPr sz="880">
                          <a:solidFill>
                            <a:srgbClr val="1E293B"/>
                          </a:solidFill>
                          <a:latin typeface="Arial"/>
                        </a:defRPr>
                      </a:pPr>
                      <a:r>
                        <a:t>8 classes: vehicles, people, ships, airplanes, bridges</a:t>
                      </a:r>
                    </a:p>
                  </a:txBody>
                  <a:tcPr anchor="ctr">
                    <a:solidFill>
                      <a:srgbClr val="FFFFFF"/>
                    </a:solidFill>
                  </a:tcPr>
                </a:tc>
                <a:tc>
                  <a:txBody>
                    <a:bodyPr/>
                    <a:lstStyle/>
                    <a:p>
                      <a:pPr>
                        <a:defRPr sz="880">
                          <a:solidFill>
                            <a:srgbClr val="1E293B"/>
                          </a:solidFill>
                          <a:latin typeface="Arial"/>
                        </a:defRPr>
                      </a:pPr>
                      <a:r>
                        <a:t>800 x 800</a:t>
                      </a:r>
                      <a:br/>
                      <a:r>
                        <a:t>(Optical RGB)</a:t>
                      </a:r>
                    </a:p>
                  </a:txBody>
                  <a:tcPr anchor="ctr">
                    <a:solidFill>
                      <a:srgbClr val="FFFFFF"/>
                    </a:solidFill>
                  </a:tcPr>
                </a:tc>
                <a:tc>
                  <a:txBody>
                    <a:bodyPr/>
                    <a:lstStyle/>
                    <a:p>
                      <a:pPr>
                        <a:defRPr sz="880">
                          <a:solidFill>
                            <a:srgbClr val="1E293B"/>
                          </a:solidFill>
                          <a:latin typeface="Arial"/>
                        </a:defRPr>
                      </a:pPr>
                      <a:r>
                        <a:t>Average target size 12.8 pixels. Extreme small scales.</a:t>
                      </a:r>
                      <a:br/>
                      <a:r>
                        <a:t>Train: 14,018 | Val: 2,804 | Test: 11,214.</a:t>
                      </a:r>
                      <a:br/>
                      <a:r>
                        <a:t>Link: github.com/jwwangchn/AI-TOD</a:t>
                      </a:r>
                    </a:p>
                  </a:txBody>
                  <a:tcPr anchor="ctr">
                    <a:solidFill>
                      <a:srgbClr val="FFFFFF"/>
                    </a:solidFill>
                  </a:tcPr>
                </a:tc>
                <a:tc>
                  <a:txBody>
                    <a:bodyPr/>
                    <a:lstStyle/>
                    <a:p>
                      <a:pPr>
                        <a:defRPr sz="880">
                          <a:solidFill>
                            <a:srgbClr val="1E293B"/>
                          </a:solidFill>
                          <a:latin typeface="Arial"/>
                        </a:defRPr>
                      </a:pPr>
                      <a:r>
                        <a:t>Great for tiny objects, but uses horizontal boxes only. Cannot train or evaluate oriented box angles.</a:t>
                      </a:r>
                    </a:p>
                  </a:txBody>
                  <a:tcPr anchor="ctr">
                    <a:solidFill>
                      <a:srgbClr val="FFFFFF"/>
                    </a:solidFill>
                  </a:tcPr>
                </a:tc>
              </a:tr>
              <a:tr h="815340">
                <a:tc>
                  <a:txBody>
                    <a:bodyPr/>
                    <a:lstStyle/>
                    <a:p>
                      <a:pPr>
                        <a:defRPr sz="880" b="1">
                          <a:solidFill>
                            <a:srgbClr val="1D4ED8"/>
                          </a:solidFill>
                          <a:latin typeface="Arial"/>
                        </a:defRPr>
                      </a:pPr>
                      <a:r>
                        <a:t>VisDrone-DET</a:t>
                      </a:r>
                      <a:br/>
                      <a:r>
                        <a:t>(Du et al., 2019/21)</a:t>
                      </a:r>
                    </a:p>
                  </a:txBody>
                  <a:tcPr anchor="ctr">
                    <a:solidFill>
                      <a:srgbClr val="F8FAFC"/>
                    </a:solidFill>
                  </a:tcPr>
                </a:tc>
                <a:tc>
                  <a:txBody>
                    <a:bodyPr/>
                    <a:lstStyle/>
                    <a:p>
                      <a:pPr>
                        <a:defRPr sz="880">
                          <a:solidFill>
                            <a:srgbClr val="1E293B"/>
                          </a:solidFill>
                          <a:latin typeface="Arial"/>
                        </a:defRPr>
                      </a:pPr>
                      <a:r>
                        <a:t>10,209 imgs</a:t>
                      </a:r>
                      <a:br/>
                      <a:r>
                        <a:t>54,200 boxes</a:t>
                      </a:r>
                    </a:p>
                  </a:txBody>
                  <a:tcPr anchor="ctr">
                    <a:solidFill>
                      <a:srgbClr val="F8FAFC"/>
                    </a:solidFill>
                  </a:tcPr>
                </a:tc>
                <a:tc>
                  <a:txBody>
                    <a:bodyPr/>
                    <a:lstStyle/>
                    <a:p>
                      <a:pPr>
                        <a:defRPr sz="880">
                          <a:solidFill>
                            <a:srgbClr val="1E293B"/>
                          </a:solidFill>
                          <a:latin typeface="Arial"/>
                        </a:defRPr>
                      </a:pPr>
                      <a:r>
                        <a:t>10 classes: pedestrians, bikes, cars, vans, trucks, motors</a:t>
                      </a:r>
                    </a:p>
                  </a:txBody>
                  <a:tcPr anchor="ctr">
                    <a:solidFill>
                      <a:srgbClr val="F8FAFC"/>
                    </a:solidFill>
                  </a:tcPr>
                </a:tc>
                <a:tc>
                  <a:txBody>
                    <a:bodyPr/>
                    <a:lstStyle/>
                    <a:p>
                      <a:pPr>
                        <a:defRPr sz="880">
                          <a:solidFill>
                            <a:srgbClr val="1E293B"/>
                          </a:solidFill>
                          <a:latin typeface="Arial"/>
                        </a:defRPr>
                      </a:pPr>
                      <a:r>
                        <a:t>2000 x 1500</a:t>
                      </a:r>
                      <a:br/>
                      <a:r>
                        <a:t>(Optical RGB)</a:t>
                      </a:r>
                    </a:p>
                  </a:txBody>
                  <a:tcPr anchor="ctr">
                    <a:solidFill>
                      <a:srgbClr val="F8FAFC"/>
                    </a:solidFill>
                  </a:tcPr>
                </a:tc>
                <a:tc>
                  <a:txBody>
                    <a:bodyPr/>
                    <a:lstStyle/>
                    <a:p>
                      <a:pPr>
                        <a:defRPr sz="880">
                          <a:solidFill>
                            <a:srgbClr val="1E293B"/>
                          </a:solidFill>
                          <a:latin typeface="Arial"/>
                        </a:defRPr>
                      </a:pPr>
                      <a:r>
                        <a:t>Drone traffic in urban China. Low altitudes.</a:t>
                      </a:r>
                      <a:br/>
                      <a:r>
                        <a:t>Train: 6,471 | Val: 548 | Test: 3,190.</a:t>
                      </a:r>
                      <a:br/>
                      <a:r>
                        <a:t>Link: github.com/VisDrone/VisDrone-Dataset</a:t>
                      </a:r>
                    </a:p>
                  </a:txBody>
                  <a:tcPr anchor="ctr">
                    <a:solidFill>
                      <a:srgbClr val="F8FAFC"/>
                    </a:solidFill>
                  </a:tcPr>
                </a:tc>
                <a:tc>
                  <a:txBody>
                    <a:bodyPr/>
                    <a:lstStyle/>
                    <a:p>
                      <a:pPr>
                        <a:defRPr sz="880">
                          <a:solidFill>
                            <a:srgbClr val="1E293B"/>
                          </a:solidFill>
                          <a:latin typeface="Arial"/>
                        </a:defRPr>
                      </a:pPr>
                      <a:r>
                        <a:t>Popular drone dataset, but strictly horizontal boxes. Dense traffic causes heavy box overlaps and missed cars.</a:t>
                      </a:r>
                    </a:p>
                  </a:txBody>
                  <a:tcPr anchor="ctr">
                    <a:solidFill>
                      <a:srgbClr val="F8FAFC"/>
                    </a:solidFill>
                  </a:tcPr>
                </a:tc>
              </a:tr>
              <a:tr h="815340">
                <a:tc>
                  <a:txBody>
                    <a:bodyPr/>
                    <a:lstStyle/>
                    <a:p>
                      <a:pPr>
                        <a:defRPr sz="880" b="1">
                          <a:solidFill>
                            <a:srgbClr val="1D4ED8"/>
                          </a:solidFill>
                          <a:latin typeface="Arial"/>
                        </a:defRPr>
                      </a:pPr>
                      <a:r>
                        <a:t>UAV-OBB</a:t>
                      </a:r>
                      <a:br/>
                      <a:r>
                        <a:t>(Ahmad et al., 2026)</a:t>
                      </a:r>
                    </a:p>
                  </a:txBody>
                  <a:tcPr anchor="ctr">
                    <a:solidFill>
                      <a:srgbClr val="FFFFFF"/>
                    </a:solidFill>
                  </a:tcPr>
                </a:tc>
                <a:tc>
                  <a:txBody>
                    <a:bodyPr/>
                    <a:lstStyle/>
                    <a:p>
                      <a:pPr>
                        <a:defRPr sz="880">
                          <a:solidFill>
                            <a:srgbClr val="1E293B"/>
                          </a:solidFill>
                          <a:latin typeface="Arial"/>
                        </a:defRPr>
                      </a:pPr>
                      <a:r>
                        <a:t>1,617 imgs</a:t>
                      </a:r>
                      <a:br/>
                      <a:r>
                        <a:t>46,807 OBBs</a:t>
                      </a:r>
                    </a:p>
                  </a:txBody>
                  <a:tcPr anchor="ctr">
                    <a:solidFill>
                      <a:srgbClr val="FFFFFF"/>
                    </a:solidFill>
                  </a:tcPr>
                </a:tc>
                <a:tc>
                  <a:txBody>
                    <a:bodyPr/>
                    <a:lstStyle/>
                    <a:p>
                      <a:pPr>
                        <a:defRPr sz="880">
                          <a:solidFill>
                            <a:srgbClr val="1E293B"/>
                          </a:solidFill>
                          <a:latin typeface="Arial"/>
                        </a:defRPr>
                      </a:pPr>
                      <a:r>
                        <a:t>6 classes: bike, bus, car, other, taxi, truck (vehicles only)</a:t>
                      </a:r>
                    </a:p>
                  </a:txBody>
                  <a:tcPr anchor="ctr">
                    <a:solidFill>
                      <a:srgbClr val="FFFFFF"/>
                    </a:solidFill>
                  </a:tcPr>
                </a:tc>
                <a:tc>
                  <a:txBody>
                    <a:bodyPr/>
                    <a:lstStyle/>
                    <a:p>
                      <a:pPr>
                        <a:defRPr sz="880">
                          <a:solidFill>
                            <a:srgbClr val="1E293B"/>
                          </a:solidFill>
                          <a:latin typeface="Arial"/>
                        </a:defRPr>
                      </a:pPr>
                      <a:r>
                        <a:t>1920 x 1080</a:t>
                      </a:r>
                      <a:br/>
                      <a:r>
                        <a:t>(Full HD RGB)</a:t>
                      </a:r>
                    </a:p>
                  </a:txBody>
                  <a:tcPr anchor="ctr">
                    <a:solidFill>
                      <a:srgbClr val="FFFFFF"/>
                    </a:solidFill>
                  </a:tcPr>
                </a:tc>
                <a:tc>
                  <a:txBody>
                    <a:bodyPr/>
                    <a:lstStyle/>
                    <a:p>
                      <a:pPr>
                        <a:defRPr sz="880">
                          <a:solidFill>
                            <a:srgbClr val="1E293B"/>
                          </a:solidFill>
                          <a:latin typeface="Arial"/>
                        </a:defRPr>
                      </a:pPr>
                      <a:r>
                        <a:t>Altitudes 75-108m in Chongqing and Wuhan.</a:t>
                      </a:r>
                      <a:br/>
                      <a:r>
                        <a:t>Train: 1,383 | Val: 218 | Test: 16.</a:t>
                      </a:r>
                      <a:br/>
                      <a:r>
                        <a:t>Link: doi.org/10.17632/6snrjwcpkh.4</a:t>
                      </a:r>
                    </a:p>
                  </a:txBody>
                  <a:tcPr anchor="ctr">
                    <a:solidFill>
                      <a:srgbClr val="FFFFFF"/>
                    </a:solidFill>
                  </a:tcPr>
                </a:tc>
                <a:tc>
                  <a:txBody>
                    <a:bodyPr/>
                    <a:lstStyle/>
                    <a:p>
                      <a:pPr>
                        <a:defRPr sz="880">
                          <a:solidFill>
                            <a:srgbClr val="1E293B"/>
                          </a:solidFill>
                          <a:latin typeface="Arial"/>
                        </a:defRPr>
                      </a:pPr>
                      <a:r>
                        <a:t>Clean YOLOv8-OBB labels and separates taxis, but small (1.6k images), vehicles only, and test split has only 16 images.</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960120"/>
          </a:xfrm>
          <a:prstGeom prst="rect">
            <a:avLst/>
          </a:prstGeom>
          <a:noFill/>
        </p:spPr>
        <p:txBody>
          <a:bodyPr wrap="square" lIns="0" tIns="0" rIns="0" bIns="0">
            <a:spAutoFit/>
          </a:bodyPr>
          <a:lstStyle/>
          <a:p>
            <a:pPr>
              <a:defRPr sz="950" b="1">
                <a:solidFill>
                  <a:srgbClr val="1D4ED8"/>
                </a:solidFill>
                <a:latin typeface="Arial"/>
              </a:defRPr>
            </a:pPr>
            <a:r>
              <a:t>DATASET SELECTION AND CONCRETE JUSTIFICATION</a:t>
            </a:r>
          </a:p>
          <a:p>
            <a:pPr>
              <a:spcBef>
                <a:spcPts val="300"/>
              </a:spcBef>
              <a:defRPr sz="2000" b="1">
                <a:solidFill>
                  <a:srgbClr val="0F172A"/>
                </a:solidFill>
                <a:latin typeface="Arial"/>
              </a:defRPr>
            </a:pPr>
            <a:r>
              <a:t>Why CODrone (2025) Fits Our Research and Why We Passed on Others</a:t>
            </a:r>
          </a:p>
          <a:p>
            <a:pPr>
              <a:spcBef>
                <a:spcPts val="300"/>
              </a:spcBef>
              <a:defRPr sz="1050">
                <a:solidFill>
                  <a:srgbClr val="64748B"/>
                </a:solidFill>
                <a:latin typeface="Arial"/>
              </a:defRPr>
            </a:pPr>
            <a:r>
              <a:t>CODrone provides the exact flight conditions needed to test oriented detection under camera tilt and altitude shifts.</a:t>
            </a:r>
          </a:p>
        </p:txBody>
      </p:sp>
      <p:sp>
        <p:nvSpPr>
          <p:cNvPr id="3" name="Rectangle 2"/>
          <p:cNvSpPr/>
          <p:nvPr/>
        </p:nvSpPr>
        <p:spPr>
          <a:xfrm>
            <a:off x="731520" y="1389888"/>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00200"/>
            <a:ext cx="5166360" cy="4892040"/>
          </a:xfrm>
          <a:prstGeom prst="rect">
            <a:avLst/>
          </a:prstGeom>
          <a:noFill/>
        </p:spPr>
        <p:txBody>
          <a:bodyPr wrap="square" lIns="0" tIns="0" rIns="0" bIns="0">
            <a:spAutoFit/>
          </a:bodyPr>
          <a:lstStyle/>
          <a:p>
            <a:pPr>
              <a:defRPr sz="1300" b="1">
                <a:solidFill>
                  <a:srgbClr val="15803D"/>
                </a:solidFill>
                <a:latin typeface="Arial"/>
              </a:defRPr>
            </a:pPr>
            <a:r>
              <a:t>Why CODrone (2025) Fits Our Research Best</a:t>
            </a:r>
          </a:p>
          <a:p>
            <a:pPr>
              <a:spcBef>
                <a:spcPts val="700"/>
              </a:spcBef>
              <a:defRPr sz="1000" b="1">
                <a:solidFill>
                  <a:srgbClr val="0F172A"/>
                </a:solidFill>
                <a:latin typeface="Arial"/>
              </a:defRPr>
            </a:pPr>
            <a:r>
              <a:t>•  Tests 30° oblique tilt (the hardest condition): </a:t>
            </a:r>
            <a:r>
              <a:rPr sz="950" b="0">
                <a:solidFill>
                  <a:srgbClr val="1E293B"/>
                </a:solidFill>
              </a:rPr>
              <a:t>Features true 3D perspective distortion. Baseline detectors lose 8 to 12% in AP50 when switching from top-down to 30° tilt, giving us a clear real-world gap to solve.</a:t>
            </a:r>
          </a:p>
          <a:p>
            <a:pPr>
              <a:spcBef>
                <a:spcPts val="700"/>
              </a:spcBef>
              <a:defRPr sz="1000" b="1">
                <a:solidFill>
                  <a:srgbClr val="0F172A"/>
                </a:solidFill>
                <a:latin typeface="Arial"/>
              </a:defRPr>
            </a:pPr>
            <a:r>
              <a:t>•  Real drone heights (30m, 60m, 100m): </a:t>
            </a:r>
            <a:r>
              <a:rPr sz="950" b="0">
                <a:solidFill>
                  <a:srgbClr val="1E293B"/>
                </a:solidFill>
              </a:rPr>
              <a:t>Captured with a DJI Mavic 3 Pro across three realistic flight heights. Objects under 15 pixels at 100m test small-scale feature retention directly.</a:t>
            </a:r>
          </a:p>
          <a:p>
            <a:pPr>
              <a:spcBef>
                <a:spcPts val="700"/>
              </a:spcBef>
              <a:defRPr sz="1000" b="1">
                <a:solidFill>
                  <a:srgbClr val="0F172A"/>
                </a:solidFill>
                <a:latin typeface="Arial"/>
              </a:defRPr>
            </a:pPr>
            <a:r>
              <a:t>•  Pure 4K optical RGB (3840 x 2160): </a:t>
            </a:r>
            <a:r>
              <a:rPr sz="950" b="0">
                <a:solidFill>
                  <a:srgbClr val="1E293B"/>
                </a:solidFill>
              </a:rPr>
              <a:t>Clean high-resolution color frames let us train single-stage YOLO models without thermal noise, camera registration mismatches, or dual-sensor setup costs.</a:t>
            </a:r>
          </a:p>
          <a:p>
            <a:pPr>
              <a:spcBef>
                <a:spcPts val="700"/>
              </a:spcBef>
              <a:defRPr sz="1000" b="1">
                <a:solidFill>
                  <a:srgbClr val="0F172A"/>
                </a:solidFill>
                <a:latin typeface="Arial"/>
              </a:defRPr>
            </a:pPr>
            <a:r>
              <a:t>•  Twelve classes beyond just cars: </a:t>
            </a:r>
            <a:r>
              <a:rPr sz="950" b="0">
                <a:solidFill>
                  <a:srgbClr val="1E293B"/>
                </a:solidFill>
              </a:rPr>
              <a:t>Includes vulnerable road users (pedestrians, bicycles, motorbikes, tricycles) and road infrastructure (signs, lights, bridges) essential for autonomous navigation.</a:t>
            </a:r>
          </a:p>
          <a:p>
            <a:pPr>
              <a:spcBef>
                <a:spcPts val="700"/>
              </a:spcBef>
              <a:defRPr sz="1000" b="1">
                <a:solidFill>
                  <a:srgbClr val="0F172A"/>
                </a:solidFill>
                <a:latin typeface="Arial"/>
              </a:defRPr>
            </a:pPr>
            <a:r>
              <a:t>•  Balanced and open benchmark splits: </a:t>
            </a:r>
            <a:r>
              <a:rPr sz="950" b="0">
                <a:solidFill>
                  <a:srgbClr val="1E293B"/>
                </a:solidFill>
              </a:rPr>
              <a:t>10,004 images cleanly divided into 5,002 train, 2,000 validation, and 3,002 test images with public annotations for reproducible evaluation.</a:t>
            </a:r>
          </a:p>
        </p:txBody>
      </p:sp>
      <p:sp>
        <p:nvSpPr>
          <p:cNvPr id="5" name="Rectangle 4"/>
          <p:cNvSpPr/>
          <p:nvPr/>
        </p:nvSpPr>
        <p:spPr>
          <a:xfrm>
            <a:off x="6080760" y="1600200"/>
            <a:ext cx="12700" cy="461772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91072" y="1600200"/>
            <a:ext cx="5166360" cy="4892040"/>
          </a:xfrm>
          <a:prstGeom prst="rect">
            <a:avLst/>
          </a:prstGeom>
          <a:noFill/>
        </p:spPr>
        <p:txBody>
          <a:bodyPr wrap="square" lIns="0" tIns="0" rIns="0" bIns="0">
            <a:spAutoFit/>
          </a:bodyPr>
          <a:lstStyle/>
          <a:p>
            <a:pPr>
              <a:defRPr sz="1300" b="1">
                <a:solidFill>
                  <a:srgbClr val="B91C1C"/>
                </a:solidFill>
                <a:latin typeface="Arial"/>
              </a:defRPr>
            </a:pPr>
            <a:r>
              <a:t>Why We Passed on Alternative Datasets</a:t>
            </a:r>
          </a:p>
          <a:p>
            <a:pPr>
              <a:spcBef>
                <a:spcPts val="700"/>
              </a:spcBef>
              <a:defRPr sz="1000" b="1">
                <a:solidFill>
                  <a:srgbClr val="0F172A"/>
                </a:solidFill>
                <a:latin typeface="Arial"/>
              </a:defRPr>
            </a:pPr>
            <a:r>
              <a:t>•  VisDrone-DET: </a:t>
            </a:r>
            <a:r>
              <a:rPr sz="950" b="0">
                <a:solidFill>
                  <a:srgbClr val="1E293B"/>
                </a:solidFill>
              </a:rPr>
              <a:t>Uses horizontal boxes only. In crowded traffic and tilted camera views, horizontal boxes overlap heavily and cannot predict vehicle headings.</a:t>
            </a:r>
          </a:p>
          <a:p>
            <a:pPr>
              <a:spcBef>
                <a:spcPts val="700"/>
              </a:spcBef>
              <a:defRPr sz="1000" b="1">
                <a:solidFill>
                  <a:srgbClr val="0F172A"/>
                </a:solidFill>
                <a:latin typeface="Arial"/>
              </a:defRPr>
            </a:pPr>
            <a:r>
              <a:t>•  DroneVehicle: </a:t>
            </a:r>
            <a:r>
              <a:rPr sz="950" b="0">
                <a:solidFill>
                  <a:srgbClr val="1E293B"/>
                </a:solidFill>
              </a:rPr>
              <a:t>Requires paired thermal infrared cameras. Night RGB images are pitch black without thermal imaging, and image resolution is low at 840x712.</a:t>
            </a:r>
          </a:p>
          <a:p>
            <a:pPr>
              <a:spcBef>
                <a:spcPts val="700"/>
              </a:spcBef>
              <a:defRPr sz="1000" b="1">
                <a:solidFill>
                  <a:srgbClr val="0F172A"/>
                </a:solidFill>
                <a:latin typeface="Arial"/>
              </a:defRPr>
            </a:pPr>
            <a:r>
              <a:t>•  DOTA-v2.0: </a:t>
            </a:r>
            <a:r>
              <a:rPr sz="950" b="0">
                <a:solidFill>
                  <a:srgbClr val="1E293B"/>
                </a:solidFill>
              </a:rPr>
              <a:t>High-altitude satellite images taken from hundreds of meters up. Requires sliding-window crops and lacks low-altitude oblique drone views.</a:t>
            </a:r>
          </a:p>
          <a:p>
            <a:pPr>
              <a:spcBef>
                <a:spcPts val="700"/>
              </a:spcBef>
              <a:defRPr sz="1000" b="1">
                <a:solidFill>
                  <a:srgbClr val="0F172A"/>
                </a:solidFill>
                <a:latin typeface="Arial"/>
              </a:defRPr>
            </a:pPr>
            <a:r>
              <a:t>•  UAV-OBB: </a:t>
            </a:r>
            <a:r>
              <a:rPr sz="950" b="0">
                <a:solidFill>
                  <a:srgbClr val="1E293B"/>
                </a:solidFill>
              </a:rPr>
              <a:t>Only covers vehicles (no pedestrians or signs), contains just 1,617 images, and the static test split has only 16 frames.</a:t>
            </a:r>
          </a:p>
          <a:p>
            <a:pPr>
              <a:spcBef>
                <a:spcPts val="700"/>
              </a:spcBef>
              <a:defRPr sz="1000" b="1">
                <a:solidFill>
                  <a:srgbClr val="0F172A"/>
                </a:solidFill>
                <a:latin typeface="Arial"/>
              </a:defRPr>
            </a:pPr>
            <a:r>
              <a:t>•  AI-TOD-v2: </a:t>
            </a:r>
            <a:r>
              <a:rPr sz="950" b="0">
                <a:solidFill>
                  <a:srgbClr val="1E293B"/>
                </a:solidFill>
              </a:rPr>
              <a:t>Annotations are strictly horizontal boxes, so it cannot evaluate oriented bounding boxes or heading angles.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960120"/>
          </a:xfrm>
          <a:prstGeom prst="rect">
            <a:avLst/>
          </a:prstGeom>
          <a:noFill/>
        </p:spPr>
        <p:txBody>
          <a:bodyPr wrap="square" lIns="0" tIns="0" rIns="0" bIns="0">
            <a:spAutoFit/>
          </a:bodyPr>
          <a:lstStyle/>
          <a:p>
            <a:pPr>
              <a:defRPr sz="950" b="1">
                <a:solidFill>
                  <a:srgbClr val="1D4ED8"/>
                </a:solidFill>
                <a:latin typeface="Arial"/>
              </a:defRPr>
            </a:pPr>
            <a:r>
              <a:t>LITERATURE GAPS AND PROPOSED SYSTEM BLUEPRINT</a:t>
            </a:r>
          </a:p>
          <a:p>
            <a:pPr>
              <a:spcBef>
                <a:spcPts val="300"/>
              </a:spcBef>
              <a:defRPr sz="2000" b="1">
                <a:solidFill>
                  <a:srgbClr val="0F172A"/>
                </a:solidFill>
                <a:latin typeface="Arial"/>
              </a:defRPr>
            </a:pPr>
            <a:r>
              <a:t>System Roadmap: Detecting Objects in Tough Aerial Conditions</a:t>
            </a:r>
          </a:p>
          <a:p>
            <a:pPr>
              <a:spcBef>
                <a:spcPts val="300"/>
              </a:spcBef>
              <a:defRPr sz="1050">
                <a:solidFill>
                  <a:srgbClr val="64748B"/>
                </a:solidFill>
                <a:latin typeface="Arial"/>
              </a:defRPr>
            </a:pPr>
            <a:r>
              <a:t>Turning survey findings into an edge-ready single-stage detection model tested on CODrone.</a:t>
            </a:r>
          </a:p>
        </p:txBody>
      </p:sp>
      <p:sp>
        <p:nvSpPr>
          <p:cNvPr id="3" name="Rectangle 2"/>
          <p:cNvSpPr/>
          <p:nvPr/>
        </p:nvSpPr>
        <p:spPr>
          <a:xfrm>
            <a:off x="731520" y="1389888"/>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00200"/>
            <a:ext cx="5166360" cy="4892040"/>
          </a:xfrm>
          <a:prstGeom prst="rect">
            <a:avLst/>
          </a:prstGeom>
          <a:noFill/>
        </p:spPr>
        <p:txBody>
          <a:bodyPr wrap="square" lIns="0" tIns="0" rIns="0" bIns="0">
            <a:spAutoFit/>
          </a:bodyPr>
          <a:lstStyle/>
          <a:p>
            <a:pPr>
              <a:defRPr sz="1300" b="1">
                <a:solidFill>
                  <a:srgbClr val="B91C1C"/>
                </a:solidFill>
                <a:latin typeface="Arial"/>
              </a:defRPr>
            </a:pPr>
            <a:r>
              <a:t>Four Practical Gaps in Current Literature</a:t>
            </a:r>
          </a:p>
          <a:p>
            <a:pPr>
              <a:spcBef>
                <a:spcPts val="700"/>
              </a:spcBef>
              <a:defRPr sz="1000" b="1">
                <a:solidFill>
                  <a:srgbClr val="0F172A"/>
                </a:solidFill>
                <a:latin typeface="Arial"/>
              </a:defRPr>
            </a:pPr>
            <a:r>
              <a:t>•  Gap 1: The AP75 localization cliff: </a:t>
            </a:r>
            <a:r>
              <a:rPr sz="950" b="0">
                <a:solidFill>
                  <a:srgbClr val="1E293B"/>
                </a:solidFill>
              </a:rPr>
              <a:t>On CODrone, detectors hit over 45% AP50, but AP75 collapses below 22% across all 22 baselines. Current angle heads cannot keep boxes tightly aligned under flight motion.</a:t>
            </a:r>
          </a:p>
          <a:p>
            <a:pPr>
              <a:spcBef>
                <a:spcPts val="700"/>
              </a:spcBef>
              <a:defRPr sz="1000" b="1">
                <a:solidFill>
                  <a:srgbClr val="0F172A"/>
                </a:solidFill>
                <a:latin typeface="Arial"/>
              </a:defRPr>
            </a:pPr>
            <a:r>
              <a:t>•  Gap 2: The 30° oblique angle penalty: </a:t>
            </a:r>
            <a:r>
              <a:rPr sz="950" b="0">
                <a:solidFill>
                  <a:srgbClr val="1E293B"/>
                </a:solidFill>
              </a:rPr>
              <a:t>Shifting from top-down nadir to 30° tilted views cuts detection accuracy by 8 to 12% across every tested detector due to perspective distortion.</a:t>
            </a:r>
          </a:p>
          <a:p>
            <a:pPr>
              <a:spcBef>
                <a:spcPts val="700"/>
              </a:spcBef>
              <a:defRPr sz="1000" b="1">
                <a:solidFill>
                  <a:srgbClr val="0F172A"/>
                </a:solidFill>
                <a:latin typeface="Arial"/>
              </a:defRPr>
            </a:pPr>
            <a:r>
              <a:t>•  Gap 3: Sub-15 pixel targets vanish in pyramids: </a:t>
            </a:r>
            <a:r>
              <a:rPr sz="950" b="0">
                <a:solidFill>
                  <a:srgbClr val="1E293B"/>
                </a:solidFill>
              </a:rPr>
              <a:t>At 100m height, pedestrians and bikes occupy under 15 pixels and get washed out inside standard 16x and 32x downsampling layers.</a:t>
            </a:r>
          </a:p>
          <a:p>
            <a:pPr>
              <a:spcBef>
                <a:spcPts val="700"/>
              </a:spcBef>
              <a:defRPr sz="1000" b="1">
                <a:solidFill>
                  <a:srgbClr val="0F172A"/>
                </a:solidFill>
                <a:latin typeface="Arial"/>
              </a:defRPr>
            </a:pPr>
            <a:r>
              <a:t>•  Gap 4: Edge latency vs precision trade-off: </a:t>
            </a:r>
            <a:r>
              <a:rPr sz="950" b="0">
                <a:solidFill>
                  <a:srgbClr val="1E293B"/>
                </a:solidFill>
              </a:rPr>
              <a:t>Two-stage detectors (Oriented R-CNN, ReDet) run under 5 FPS on edge boards. Single-stage YOLO models run fast (40+ FPS) but need metric loss fixes to reach high AP75.</a:t>
            </a:r>
          </a:p>
        </p:txBody>
      </p:sp>
      <p:sp>
        <p:nvSpPr>
          <p:cNvPr id="5" name="Rectangle 4"/>
          <p:cNvSpPr/>
          <p:nvPr/>
        </p:nvSpPr>
        <p:spPr>
          <a:xfrm>
            <a:off x="6080760" y="1600200"/>
            <a:ext cx="12700" cy="461772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91072" y="1600200"/>
            <a:ext cx="5166360" cy="4892040"/>
          </a:xfrm>
          <a:prstGeom prst="rect">
            <a:avLst/>
          </a:prstGeom>
          <a:noFill/>
        </p:spPr>
        <p:txBody>
          <a:bodyPr wrap="square" lIns="0" tIns="0" rIns="0" bIns="0">
            <a:spAutoFit/>
          </a:bodyPr>
          <a:lstStyle/>
          <a:p>
            <a:pPr>
              <a:defRPr sz="1300" b="1">
                <a:solidFill>
                  <a:srgbClr val="15803D"/>
                </a:solidFill>
                <a:latin typeface="Arial"/>
              </a:defRPr>
            </a:pPr>
            <a:r>
              <a:t>Our Proposed Research Blueprint</a:t>
            </a:r>
          </a:p>
          <a:p>
            <a:pPr>
              <a:spcBef>
                <a:spcPts val="700"/>
              </a:spcBef>
              <a:defRPr sz="1000" b="1">
                <a:solidFill>
                  <a:srgbClr val="0F172A"/>
                </a:solidFill>
                <a:latin typeface="Arial"/>
              </a:defRPr>
            </a:pPr>
            <a:r>
              <a:t>•  1. High-resolution P2 feature layer (4x stride): </a:t>
            </a:r>
            <a:r>
              <a:rPr sz="950" b="0">
                <a:solidFill>
                  <a:srgbClr val="1E293B"/>
                </a:solidFill>
              </a:rPr>
              <a:t>Add a 4x stride P2 layer to YOLOv8-OBB / YOLOv11-OBB to keep fine spatial details intact for sub-15 pixel road users at 100m altitude.</a:t>
            </a:r>
          </a:p>
          <a:p>
            <a:pPr>
              <a:spcBef>
                <a:spcPts val="700"/>
              </a:spcBef>
              <a:defRPr sz="1000" b="1">
                <a:solidFill>
                  <a:srgbClr val="0F172A"/>
                </a:solidFill>
                <a:latin typeface="Arial"/>
              </a:defRPr>
            </a:pPr>
            <a:r>
              <a:t>•  2. Scale-invariant KLD metric loss: </a:t>
            </a:r>
            <a:r>
              <a:rPr sz="950" b="0">
                <a:solidFill>
                  <a:srgbClr val="1E293B"/>
                </a:solidFill>
              </a:rPr>
              <a:t>Replace standard smooth L1 loss with Kullback-Leibler Divergence, smoothing angle gradients and stopping boundary flip errors on long vehicles.</a:t>
            </a:r>
          </a:p>
          <a:p>
            <a:pPr>
              <a:spcBef>
                <a:spcPts val="700"/>
              </a:spcBef>
              <a:defRPr sz="1000" b="1">
                <a:solidFill>
                  <a:srgbClr val="0F172A"/>
                </a:solidFill>
                <a:latin typeface="Arial"/>
              </a:defRPr>
            </a:pPr>
            <a:r>
              <a:t>•  3. Large-kernel context attention (LSK blocks): </a:t>
            </a:r>
            <a:r>
              <a:rPr sz="950" b="0">
                <a:solidFill>
                  <a:srgbClr val="1E293B"/>
                </a:solidFill>
              </a:rPr>
              <a:t>Add lightweight selective kernel blocks to dynamically widen receptive fields, helping the network separate small objects from surrounding road clutter.</a:t>
            </a:r>
          </a:p>
          <a:p>
            <a:pPr>
              <a:spcBef>
                <a:spcPts val="700"/>
              </a:spcBef>
              <a:defRPr sz="1000" b="1">
                <a:solidFill>
                  <a:srgbClr val="0F172A"/>
                </a:solidFill>
                <a:latin typeface="Arial"/>
              </a:defRPr>
            </a:pPr>
            <a:r>
              <a:t>•  4. Real-time edge target on NVIDIA Jetson: </a:t>
            </a:r>
            <a:r>
              <a:rPr sz="950" b="0">
                <a:solidFill>
                  <a:srgbClr val="1E293B"/>
                </a:solidFill>
              </a:rPr>
              <a:t>Aim for over 28% AP75 on CODrone (beating LSKNet at 21.1% and ReDet at 20.2%) while keeping frame rates above 35 FPS on Jetson Orin via FP16 TensorRT.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